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339" r:id="rId2"/>
    <p:sldId id="1528" r:id="rId3"/>
    <p:sldId id="1529" r:id="rId4"/>
    <p:sldId id="1530" r:id="rId5"/>
    <p:sldId id="1531" r:id="rId6"/>
    <p:sldId id="1497" r:id="rId7"/>
    <p:sldId id="1471" r:id="rId8"/>
    <p:sldId id="1524" r:id="rId9"/>
    <p:sldId id="1496" r:id="rId10"/>
    <p:sldId id="1525" r:id="rId11"/>
    <p:sldId id="1526" r:id="rId12"/>
    <p:sldId id="1532" r:id="rId13"/>
  </p:sldIdLst>
  <p:sldSz cx="9906000" cy="6858000" type="A4"/>
  <p:notesSz cx="6669088" cy="9926638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6" userDrawn="1">
          <p15:clr>
            <a:srgbClr val="A4A3A4"/>
          </p15:clr>
        </p15:guide>
        <p15:guide id="2" orient="horz" pos="754" userDrawn="1">
          <p15:clr>
            <a:srgbClr val="A4A3A4"/>
          </p15:clr>
        </p15:guide>
        <p15:guide id="3" orient="horz" pos="1207" userDrawn="1">
          <p15:clr>
            <a:srgbClr val="A4A3A4"/>
          </p15:clr>
        </p15:guide>
        <p15:guide id="4" orient="horz" pos="4110" userDrawn="1">
          <p15:clr>
            <a:srgbClr val="A4A3A4"/>
          </p15:clr>
        </p15:guide>
        <p15:guide id="5" orient="horz" pos="1706" userDrawn="1">
          <p15:clr>
            <a:srgbClr val="A4A3A4"/>
          </p15:clr>
        </p15:guide>
        <p15:guide id="6" pos="6068" userDrawn="1">
          <p15:clr>
            <a:srgbClr val="A4A3A4"/>
          </p15:clr>
        </p15:guide>
        <p15:guide id="7" pos="172" userDrawn="1">
          <p15:clr>
            <a:srgbClr val="A4A3A4"/>
          </p15:clr>
        </p15:guide>
        <p15:guide id="8" pos="407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01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C690521-6D78-5C56-933E-D4C82FDDBBD9}" name="Moormann, Fabian" initials="FM" userId="S::Fabian.Moormann@zew.de::a0d1881c-3466-4b3b-942b-17f44e294e06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fam" initials="f" lastIdx="2" clrIdx="0"/>
  <p:cmAuthor id="1" name="Microsoft" initials="M" lastIdx="5" clrIdx="1"/>
  <p:cmAuthor id="2" name="Sarah-Esther Ciaglia" initials="SC" lastIdx="1" clrIdx="2">
    <p:extLst>
      <p:ext uri="{19B8F6BF-5375-455C-9EA6-DF929625EA0E}">
        <p15:presenceInfo xmlns:p15="http://schemas.microsoft.com/office/powerpoint/2012/main" userId="S-1-5-21-3463609259-212226432-2349557979-4741" providerId="AD"/>
      </p:ext>
    </p:extLst>
  </p:cmAuthor>
  <p:cmAuthor id="3" name="Friedrich Heinemann" initials="FHE" lastIdx="1" clrIdx="3">
    <p:extLst>
      <p:ext uri="{19B8F6BF-5375-455C-9EA6-DF929625EA0E}">
        <p15:presenceInfo xmlns:p15="http://schemas.microsoft.com/office/powerpoint/2012/main" userId="Friedrich Heinemann" providerId="None"/>
      </p:ext>
    </p:extLst>
  </p:cmAuthor>
  <p:cmAuthor id="4" name="Kemper, Jan" initials="KJ" lastIdx="1" clrIdx="4">
    <p:extLst>
      <p:ext uri="{19B8F6BF-5375-455C-9EA6-DF929625EA0E}">
        <p15:presenceInfo xmlns:p15="http://schemas.microsoft.com/office/powerpoint/2012/main" userId="S-1-5-21-3463609259-212226432-2349557979-830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4BE28"/>
    <a:srgbClr val="009900"/>
    <a:srgbClr val="9C2438"/>
    <a:srgbClr val="527DA4"/>
    <a:srgbClr val="C7A9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Mittlere Formatvorlage 2 - Akz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73" autoAdjust="0"/>
    <p:restoredTop sz="86381" autoAdjust="0"/>
  </p:normalViewPr>
  <p:slideViewPr>
    <p:cSldViewPr snapToObjects="1">
      <p:cViewPr varScale="1">
        <p:scale>
          <a:sx n="95" d="100"/>
          <a:sy n="95" d="100"/>
        </p:scale>
        <p:origin x="1344" y="96"/>
      </p:cViewPr>
      <p:guideLst>
        <p:guide orient="horz" pos="346"/>
        <p:guide orient="horz" pos="754"/>
        <p:guide orient="horz" pos="1207"/>
        <p:guide orient="horz" pos="4110"/>
        <p:guide orient="horz" pos="1706"/>
        <p:guide pos="6068"/>
        <p:guide pos="172"/>
        <p:guide pos="4073"/>
      </p:guideLst>
    </p:cSldViewPr>
  </p:slideViewPr>
  <p:outlineViewPr>
    <p:cViewPr>
      <p:scale>
        <a:sx n="33" d="100"/>
        <a:sy n="33" d="100"/>
      </p:scale>
      <p:origin x="0" y="-112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Objects="1">
      <p:cViewPr varScale="1">
        <p:scale>
          <a:sx n="68" d="100"/>
          <a:sy n="68" d="100"/>
        </p:scale>
        <p:origin x="3067" y="67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7F7E0C50-4D70-8F4B-B7EF-9539930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609458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777608" y="1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/>
          <a:lstStyle>
            <a:lvl1pPr algn="r">
              <a:defRPr sz="1100"/>
            </a:lvl1pPr>
          </a:lstStyle>
          <a:p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46113" y="744538"/>
            <a:ext cx="5376862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2" tIns="45361" rIns="90722" bIns="45361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66909" y="4715155"/>
            <a:ext cx="5335270" cy="4466987"/>
          </a:xfrm>
          <a:prstGeom prst="rect">
            <a:avLst/>
          </a:prstGeom>
        </p:spPr>
        <p:txBody>
          <a:bodyPr vert="horz" lIns="90722" tIns="45361" rIns="90722" bIns="45361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l">
              <a:defRPr sz="11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777608" y="9428585"/>
            <a:ext cx="2889938" cy="496332"/>
          </a:xfrm>
          <a:prstGeom prst="rect">
            <a:avLst/>
          </a:prstGeom>
        </p:spPr>
        <p:txBody>
          <a:bodyPr vert="horz" lIns="90722" tIns="45361" rIns="90722" bIns="45361" rtlCol="0" anchor="b"/>
          <a:lstStyle>
            <a:lvl1pPr algn="r">
              <a:defRPr sz="1100"/>
            </a:lvl1pPr>
          </a:lstStyle>
          <a:p>
            <a:fld id="{CF1E3524-81C1-473B-AE0F-697B830EC5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8750302"/>
      </p:ext>
    </p:extLst>
  </p:cSld>
  <p:clrMap bg1="lt1" tx1="dk1" bg2="lt2" tx2="dk2" accent1="accent1" accent2="accent2" accent3="accent3" accent4="accent4" accent5="accent5" accent6="accent6" hlink="hlink" folHlink="folHlink"/>
  <p:hf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6239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67FE5-AC57-483F-8E11-E090BBBADD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902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J:\Wegweiser\Medien\ZEW_Logo\ZEW Logo Farbe\ZEW-Logo_ohne Schriftzug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5288" y="5877272"/>
            <a:ext cx="1320006" cy="44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I:\WW\Hiwis_und_Praktikanten\Konstantin\Musterpräsentation\LogoLeibniz_Farbe_RGB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014" y="5845075"/>
            <a:ext cx="876573" cy="5932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1800000" y="1080000"/>
            <a:ext cx="6833964" cy="1484904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/>
            </a:lvl1pPr>
          </a:lstStyle>
          <a:p>
            <a:pPr marL="0" marR="0" lvl="0" indent="0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de-DE" sz="4800" b="1" i="0" u="none" strike="noStrike" kern="1200" cap="all" spc="10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Hier steht der Titel der Präsentation</a:t>
            </a:r>
            <a:endParaRPr kumimoji="0" lang="de-DE" sz="4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 hasCustomPrompt="1"/>
          </p:nvPr>
        </p:nvSpPr>
        <p:spPr>
          <a:xfrm>
            <a:off x="1800000" y="3735703"/>
            <a:ext cx="5903912" cy="36326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000" b="0" i="0" u="none" strike="noStrike" kern="1200" cap="none" spc="0" normalizeH="0" baseline="0" noProof="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Anlass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weiterer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Titel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Calibri"/>
            </a:endParaRP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3" hasCustomPrompt="1"/>
          </p:nvPr>
        </p:nvSpPr>
        <p:spPr>
          <a:xfrm>
            <a:off x="1800000" y="2679128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1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Prof. Dr. XXX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1800000" y="3015623"/>
            <a:ext cx="5905500" cy="360213"/>
          </a:xfrm>
          <a:prstGeom prst="rect">
            <a:avLst/>
          </a:prstGeom>
        </p:spPr>
        <p:txBody>
          <a:bodyPr vert="horz" lIns="0" tIns="0" rIns="0" bIns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kumimoji="0" lang="en-US" sz="2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DD.MM.YYYY</a:t>
            </a:r>
          </a:p>
        </p:txBody>
      </p:sp>
    </p:spTree>
    <p:extLst>
      <p:ext uri="{BB962C8B-B14F-4D97-AF65-F5344CB8AC3E}">
        <p14:creationId xmlns:p14="http://schemas.microsoft.com/office/powerpoint/2010/main" val="2691835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73050" y="620688"/>
            <a:ext cx="9359900" cy="548184"/>
          </a:xfrm>
          <a:prstGeom prst="rect">
            <a:avLst/>
          </a:prstGeom>
        </p:spPr>
        <p:txBody>
          <a:bodyPr lIns="90000" tIns="36000" rIns="90000" bIns="36000"/>
          <a:lstStyle>
            <a:lvl1pPr>
              <a:defRPr sz="2100" cap="none"/>
            </a:lvl1pPr>
          </a:lstStyle>
          <a:p>
            <a:endParaRPr lang="de-DE" dirty="0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7466136" y="6551402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2771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72" userDrawn="1">
          <p15:clr>
            <a:srgbClr val="FBAE40"/>
          </p15:clr>
        </p15:guide>
        <p15:guide id="2" pos="606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1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9600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itel 1"/>
          <p:cNvSpPr>
            <a:spLocks noGrp="1"/>
          </p:cNvSpPr>
          <p:nvPr>
            <p:ph type="title" hasCustomPrompt="1"/>
          </p:nvPr>
        </p:nvSpPr>
        <p:spPr>
          <a:xfrm>
            <a:off x="633413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sp>
        <p:nvSpPr>
          <p:cNvPr id="15" name="Inhaltsplatzhalter 9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86391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6" name="Bild 1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9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el 1"/>
          <p:cNvSpPr>
            <a:spLocks noGrp="1"/>
          </p:cNvSpPr>
          <p:nvPr>
            <p:ph type="title"/>
          </p:nvPr>
        </p:nvSpPr>
        <p:spPr>
          <a:xfrm>
            <a:off x="632520" y="764704"/>
            <a:ext cx="8640068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19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211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9" name="Inhaltsplatzhalter 2"/>
          <p:cNvSpPr>
            <a:spLocks noGrp="1"/>
          </p:cNvSpPr>
          <p:nvPr>
            <p:ph sz="quarter" idx="11"/>
          </p:nvPr>
        </p:nvSpPr>
        <p:spPr>
          <a:xfrm>
            <a:off x="5173245" y="1485901"/>
            <a:ext cx="4089275" cy="4824412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70390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2 Spalte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300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3" name="Titel 1"/>
          <p:cNvSpPr>
            <a:spLocks noGrp="1"/>
          </p:cNvSpPr>
          <p:nvPr>
            <p:ph type="title" hasCustomPrompt="1"/>
          </p:nvPr>
        </p:nvSpPr>
        <p:spPr>
          <a:xfrm>
            <a:off x="632573" y="763588"/>
            <a:ext cx="864090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9" name="Bild 8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10" name="Inhaltsplatzhalter 2"/>
          <p:cNvSpPr>
            <a:spLocks noGrp="1"/>
          </p:cNvSpPr>
          <p:nvPr>
            <p:ph sz="quarter" idx="10"/>
          </p:nvPr>
        </p:nvSpPr>
        <p:spPr>
          <a:xfrm>
            <a:off x="633600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1" name="Inhaltsplatzhalter 2"/>
          <p:cNvSpPr>
            <a:spLocks noGrp="1"/>
          </p:cNvSpPr>
          <p:nvPr>
            <p:ph sz="quarter" idx="11"/>
          </p:nvPr>
        </p:nvSpPr>
        <p:spPr>
          <a:xfrm>
            <a:off x="5182041" y="1917700"/>
            <a:ext cx="4089275" cy="43926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2116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zeiliger Titel,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33600" y="1917700"/>
            <a:ext cx="8638988" cy="439261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  <a:defRPr b="0" i="0"/>
            </a:lvl1pPr>
            <a:lvl2pPr marL="342000" indent="0">
              <a:lnSpc>
                <a:spcPts val="2000"/>
              </a:lnSpc>
              <a:spcBef>
                <a:spcPts val="100"/>
              </a:spcBef>
              <a:buFontTx/>
              <a:buNone/>
              <a:defRPr/>
            </a:lvl2pPr>
            <a:lvl3pPr marL="180000" indent="0">
              <a:buFontTx/>
              <a:buNone/>
              <a:defRPr/>
            </a:lvl3pPr>
          </a:lstStyle>
          <a:p>
            <a:pPr lvl="0"/>
            <a:endParaRPr lang="de-DE" dirty="0"/>
          </a:p>
        </p:txBody>
      </p:sp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625211" y="763588"/>
            <a:ext cx="8623717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13" name="Bild 12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9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liederungseben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33413" y="1917701"/>
            <a:ext cx="8639175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 smtClean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  <p:sp>
        <p:nvSpPr>
          <p:cNvPr id="11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3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8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59417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37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Gliederungseben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Titel 1"/>
          <p:cNvSpPr>
            <a:spLocks noGrp="1"/>
          </p:cNvSpPr>
          <p:nvPr>
            <p:ph type="title" hasCustomPrompt="1"/>
          </p:nvPr>
        </p:nvSpPr>
        <p:spPr>
          <a:xfrm>
            <a:off x="625024" y="763588"/>
            <a:ext cx="8639175" cy="981794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Zweizeilig</a:t>
            </a:r>
            <a:br>
              <a:rPr lang="de-DE" dirty="0"/>
            </a:br>
            <a:r>
              <a:rPr lang="de-DE" dirty="0"/>
              <a:t>bearbeiten</a:t>
            </a:r>
          </a:p>
        </p:txBody>
      </p:sp>
      <p:pic>
        <p:nvPicPr>
          <p:cNvPr id="8" name="Bild 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>
          <a:xfrm>
            <a:off x="633414" y="1917701"/>
            <a:ext cx="8639174" cy="4392612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94692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Text mit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umsplatzhalter 3"/>
          <p:cNvSpPr>
            <a:spLocks noGrp="1"/>
          </p:cNvSpPr>
          <p:nvPr>
            <p:ph type="dt" sz="half" idx="2"/>
          </p:nvPr>
        </p:nvSpPr>
        <p:spPr>
          <a:xfrm>
            <a:off x="63360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0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21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1123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22" name="Titel 1"/>
          <p:cNvSpPr>
            <a:spLocks noGrp="1"/>
          </p:cNvSpPr>
          <p:nvPr>
            <p:ph type="title"/>
          </p:nvPr>
        </p:nvSpPr>
        <p:spPr>
          <a:xfrm>
            <a:off x="625024" y="764704"/>
            <a:ext cx="8639175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5" name="Bild 14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Inhaltsplatzhalter 2"/>
          <p:cNvSpPr>
            <a:spLocks noGrp="1"/>
          </p:cNvSpPr>
          <p:nvPr>
            <p:ph sz="quarter" idx="10"/>
          </p:nvPr>
        </p:nvSpPr>
        <p:spPr>
          <a:xfrm>
            <a:off x="633414" y="1485900"/>
            <a:ext cx="8639174" cy="4824413"/>
          </a:xfrm>
          <a:prstGeom prst="rect">
            <a:avLst/>
          </a:prstGeom>
        </p:spPr>
        <p:txBody>
          <a:bodyPr lIns="0" tIns="0" rIns="0" bIns="0"/>
          <a:lstStyle>
            <a:lvl1pPr>
              <a:defRPr lang="de-DE" b="0" i="0" dirty="0"/>
            </a:lvl1pPr>
          </a:lstStyle>
          <a:p>
            <a:pPr marL="0" lvl="0" indent="0">
              <a:spcBef>
                <a:spcPts val="800"/>
              </a:spcBef>
              <a:spcAft>
                <a:spcPts val="400"/>
              </a:spcAft>
              <a:buSzPct val="100000"/>
              <a:buFont typeface="Wingdings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862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Grafik, 1 Spalt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2256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>
          <a:xfrm>
            <a:off x="625211" y="765640"/>
            <a:ext cx="8634059" cy="54930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 dirty="0"/>
              <a:t>Mastertitelformat bearbeiten</a:t>
            </a:r>
          </a:p>
        </p:txBody>
      </p:sp>
      <p:pic>
        <p:nvPicPr>
          <p:cNvPr id="18" name="Bild 17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  <p:sp>
        <p:nvSpPr>
          <p:cNvPr id="3" name="Textplatzhalter 2"/>
          <p:cNvSpPr>
            <a:spLocks noGrp="1"/>
          </p:cNvSpPr>
          <p:nvPr>
            <p:ph type="body" sz="quarter" idx="10" hasCustomPrompt="1"/>
          </p:nvPr>
        </p:nvSpPr>
        <p:spPr>
          <a:xfrm>
            <a:off x="633413" y="1485900"/>
            <a:ext cx="3743523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lnSpc>
                <a:spcPct val="80000"/>
              </a:lnSpc>
              <a:spcBef>
                <a:spcPts val="400"/>
              </a:spcBef>
              <a:buFontTx/>
              <a:buNone/>
              <a:defRPr/>
            </a:lvl1pPr>
          </a:lstStyle>
          <a:p>
            <a:pPr lvl="0"/>
            <a:r>
              <a:rPr lang="de-DE" dirty="0"/>
              <a:t>Objekt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12"/>
          </p:nvPr>
        </p:nvSpPr>
        <p:spPr>
          <a:xfrm>
            <a:off x="5025008" y="1485900"/>
            <a:ext cx="4247580" cy="4824413"/>
          </a:xfrm>
          <a:prstGeom prst="rect">
            <a:avLst/>
          </a:prstGeom>
        </p:spPr>
        <p:txBody>
          <a:bodyPr vert="horz" lIns="0" tIns="0" rIns="0" bIns="0"/>
          <a:lstStyle>
            <a:lvl1pPr marL="0" indent="0"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418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Datumsplatzhalter 3"/>
          <p:cNvSpPr>
            <a:spLocks noGrp="1"/>
          </p:cNvSpPr>
          <p:nvPr>
            <p:ph type="dt" sz="half" idx="2"/>
          </p:nvPr>
        </p:nvSpPr>
        <p:spPr>
          <a:xfrm>
            <a:off x="632520" y="6453336"/>
            <a:ext cx="217418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8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384550" y="6453336"/>
            <a:ext cx="31369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de-DE" dirty="0"/>
          </a:p>
        </p:txBody>
      </p:sp>
      <p:sp>
        <p:nvSpPr>
          <p:cNvPr id="19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960835" y="6453336"/>
            <a:ext cx="2311400" cy="196132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E1A12CDA-83D3-4EF4-BC0D-8D5887487634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6" name="Bild 5" descr="standard_quadrat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0664"/>
            <a:ext cx="1244600" cy="25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495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Diagrammplatzhalter 2"/>
          <p:cNvSpPr>
            <a:spLocks noGrp="1"/>
          </p:cNvSpPr>
          <p:nvPr>
            <p:ph type="chart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C1D2A193-0E07-4D57-91FA-B230AFA3092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7316363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7429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035550" y="19812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92B8972-D613-4840-A2B3-1E4A6CAB1F2E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00966199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42950" y="609600"/>
            <a:ext cx="8420100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742950" y="1981200"/>
            <a:ext cx="8420100" cy="41148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74295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063750" cy="457200"/>
          </a:xfrm>
        </p:spPr>
        <p:txBody>
          <a:bodyPr/>
          <a:lstStyle>
            <a:lvl1pPr>
              <a:defRPr/>
            </a:lvl1pPr>
          </a:lstStyle>
          <a:p>
            <a:fld id="{A371CBB4-E08C-4D62-9221-C71248BA951B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5837093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742950" y="2130426"/>
            <a:ext cx="84201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18A035-105A-416C-95A9-DF36EC924CB5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3491182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9EEBD0-682E-4ED1-987F-8E094F6AFA36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7083096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4E2F2D-8D9A-48C8-8D29-6EA451C747A3}" type="slidenum">
              <a:rPr lang="de-DE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39242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805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2" r:id="rId4"/>
    <p:sldLayoutId id="2147483654" r:id="rId5"/>
    <p:sldLayoutId id="2147483657" r:id="rId6"/>
    <p:sldLayoutId id="2147483656" r:id="rId7"/>
    <p:sldLayoutId id="2147483659" r:id="rId8"/>
    <p:sldLayoutId id="2147483651" r:id="rId9"/>
    <p:sldLayoutId id="2147483653" r:id="rId10"/>
    <p:sldLayoutId id="2147483655" r:id="rId11"/>
    <p:sldLayoutId id="2147483662" r:id="rId12"/>
    <p:sldLayoutId id="2147483663" r:id="rId13"/>
    <p:sldLayoutId id="2147483664" r:id="rId14"/>
    <p:sldLayoutId id="2147483666" r:id="rId15"/>
    <p:sldLayoutId id="2147483668" r:id="rId16"/>
    <p:sldLayoutId id="2147483670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100">
          <a:solidFill>
            <a:schemeClr val="tx1"/>
          </a:solidFill>
          <a:latin typeface="Calibri"/>
          <a:ea typeface="+mj-ea"/>
          <a:cs typeface="Arial" panose="020B0604020202020204" pitchFamily="34" charset="0"/>
        </a:defRPr>
      </a:lvl1pPr>
    </p:titleStyle>
    <p:bodyStyle>
      <a:lvl1pPr marL="182563" indent="-182563" algn="l" defTabSz="914400" rtl="0" eaLnBrk="1" latinLnBrk="0" hangingPunct="1">
        <a:spcBef>
          <a:spcPct val="20000"/>
        </a:spcBef>
        <a:buClr>
          <a:schemeClr val="accent1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Calibri"/>
          <a:ea typeface="+mn-ea"/>
          <a:cs typeface="Calibri"/>
        </a:defRPr>
      </a:lvl1pPr>
      <a:lvl2pPr marL="449263" indent="-2667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Calibri"/>
          <a:ea typeface="+mn-ea"/>
          <a:cs typeface="Calibri"/>
        </a:defRPr>
      </a:lvl2pPr>
      <a:lvl3pPr marL="714375" indent="-265113" algn="l" defTabSz="914400" rtl="0" eaLnBrk="1" latinLnBrk="0" hangingPunct="1">
        <a:spcBef>
          <a:spcPct val="20000"/>
        </a:spcBef>
        <a:buClr>
          <a:schemeClr val="accent1"/>
        </a:buClr>
        <a:buFont typeface="Symbol" panose="05050102010706020507" pitchFamily="18" charset="2"/>
        <a:buChar char="-"/>
        <a:defRPr sz="2000" kern="1200">
          <a:solidFill>
            <a:schemeClr val="tx1"/>
          </a:solidFill>
          <a:latin typeface="Calibri"/>
          <a:ea typeface="+mn-ea"/>
          <a:cs typeface="Calibri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7D6892BD-E2A1-5403-4642-57B9FBD35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7016" y="2575486"/>
            <a:ext cx="1457070" cy="853514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36576" y="1160748"/>
            <a:ext cx="8496944" cy="1476164"/>
          </a:xfrm>
        </p:spPr>
        <p:txBody>
          <a:bodyPr/>
          <a:lstStyle/>
          <a:p>
            <a:br>
              <a:rPr lang="en-GB" b="0" dirty="0"/>
            </a:br>
            <a:r>
              <a:rPr lang="de-DE" dirty="0"/>
              <a:t>Der EZB-Transparenzmonitor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		</a:t>
            </a:r>
            <a:r>
              <a:rPr lang="de-DE" sz="1400" b="0" cap="none" dirty="0"/>
              <a:t>mit Unterstützung der </a:t>
            </a:r>
            <a:endParaRPr lang="en-GB" sz="1400" b="0" cap="non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1136576" y="3356992"/>
            <a:ext cx="7920880" cy="936104"/>
          </a:xfrm>
        </p:spPr>
        <p:txBody>
          <a:bodyPr/>
          <a:lstStyle/>
          <a:p>
            <a:endParaRPr lang="en-GB" noProof="0" dirty="0"/>
          </a:p>
          <a:p>
            <a:endParaRPr lang="en-GB" b="0" dirty="0"/>
          </a:p>
          <a:p>
            <a:r>
              <a:rPr lang="en-GB" b="0" dirty="0"/>
              <a:t>Friedrich Heinemann (ZEW Mannheim and University of Heidelberg)</a:t>
            </a:r>
          </a:p>
          <a:p>
            <a:r>
              <a:rPr lang="en-GB" b="0" dirty="0"/>
              <a:t>Peter Buchmann (ZEW Mannheim)</a:t>
            </a:r>
          </a:p>
          <a:p>
            <a:r>
              <a:rPr lang="en-GB" b="0" dirty="0"/>
              <a:t>Jan Kemper (ZEW Mannheim and University of Mannheim)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4"/>
          </p:nvPr>
        </p:nvSpPr>
        <p:spPr>
          <a:xfrm>
            <a:off x="1136576" y="4797152"/>
            <a:ext cx="5040560" cy="1656184"/>
          </a:xfrm>
        </p:spPr>
        <p:txBody>
          <a:bodyPr/>
          <a:lstStyle/>
          <a:p>
            <a:endParaRPr lang="en-GB" noProof="0" dirty="0"/>
          </a:p>
          <a:p>
            <a:endParaRPr lang="en-GB" dirty="0"/>
          </a:p>
          <a:p>
            <a:endParaRPr lang="en-GB" noProof="0" dirty="0"/>
          </a:p>
          <a:p>
            <a:r>
              <a:rPr lang="en-GB" dirty="0"/>
              <a:t>Workshop ZEW Mannheim</a:t>
            </a:r>
          </a:p>
          <a:p>
            <a:r>
              <a:rPr lang="en-GB" noProof="0" dirty="0"/>
              <a:t>14.04.2026</a:t>
            </a:r>
          </a:p>
          <a:p>
            <a:endParaRPr lang="en-GB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38220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D9C5F20-B257-0754-143F-16246A4E08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A3CB162-11CF-989F-E2D8-7E57604C7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Der Kontext: Projekt mit Förderung der Stiftung Geld und Währung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4C3ACAA-88FC-DD99-97F3-BBD6C82AC07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33600" y="1936262"/>
            <a:ext cx="8639175" cy="4392613"/>
          </a:xfrm>
        </p:spPr>
        <p:txBody>
          <a:bodyPr/>
          <a:lstStyle/>
          <a:p>
            <a:r>
              <a:rPr lang="de-DE" i="1" dirty="0"/>
              <a:t>„Die Rolle der Fiskalpolitik für geldpolitische Entscheidungen der EZB –</a:t>
            </a:r>
          </a:p>
          <a:p>
            <a:r>
              <a:rPr lang="de-DE" i="1" dirty="0"/>
              <a:t>empirische Diagnoseverfahren und EZB-Transparenz-Monitor“</a:t>
            </a:r>
          </a:p>
          <a:p>
            <a:pPr lvl="1">
              <a:buClr>
                <a:schemeClr val="tx1"/>
              </a:buClr>
            </a:pPr>
            <a:r>
              <a:rPr lang="de-DE" b="1" dirty="0"/>
              <a:t>Akademische Säule: Wissenschaftliche Papiere</a:t>
            </a:r>
          </a:p>
          <a:p>
            <a:pPr lvl="2">
              <a:buClrTx/>
              <a:buFont typeface="Courier New" panose="02070309020205020404" pitchFamily="49" charset="0"/>
              <a:buChar char="o"/>
            </a:pPr>
            <a:r>
              <a:rPr lang="de-DE" dirty="0"/>
              <a:t>Geldpolitische Positionierungen im EZB-Rat und nationale Fiskalpolitik</a:t>
            </a:r>
          </a:p>
          <a:p>
            <a:pPr lvl="2">
              <a:buClrTx/>
              <a:buFont typeface="Courier New" panose="02070309020205020404" pitchFamily="49" charset="0"/>
              <a:buChar char="o"/>
            </a:pPr>
            <a:r>
              <a:rPr lang="de-DE" dirty="0"/>
              <a:t>Inflationserwartungsbildung und Fiskalpolitik</a:t>
            </a:r>
          </a:p>
          <a:p>
            <a:pPr lvl="2">
              <a:buClrTx/>
              <a:buFont typeface="Courier New" panose="02070309020205020404" pitchFamily="49" charset="0"/>
              <a:buChar char="o"/>
            </a:pPr>
            <a:r>
              <a:rPr lang="de-DE" dirty="0"/>
              <a:t>Fiskalpolitik in Taylor-Gleichungen</a:t>
            </a:r>
          </a:p>
          <a:p>
            <a:pPr lvl="1">
              <a:buClr>
                <a:schemeClr val="tx1"/>
              </a:buClr>
            </a:pPr>
            <a:r>
              <a:rPr lang="de-DE" dirty="0"/>
              <a:t>Wissenschaftskommunikation</a:t>
            </a:r>
          </a:p>
          <a:p>
            <a:pPr lvl="2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de-DE" dirty="0"/>
              <a:t>EZB-Transparenzmonitor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8937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AAB1D42-A32D-3536-37E3-623AA33352A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Es besteht </a:t>
            </a:r>
            <a:r>
              <a:rPr lang="de-DE" b="1" dirty="0"/>
              <a:t>Lücke</a:t>
            </a:r>
            <a:r>
              <a:rPr lang="de-DE" dirty="0"/>
              <a:t> zwischen Selbstdarstellungen der Zentralbanken und marktnahen ECB-</a:t>
            </a:r>
            <a:r>
              <a:rPr lang="de-DE" dirty="0" err="1"/>
              <a:t>Watchern</a:t>
            </a:r>
            <a:r>
              <a:rPr lang="de-DE" dirty="0"/>
              <a:t>.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EZB-Beobachtung aus unabhängiger akademischer Perspektive, Nutzung innovativer wissenschaftlicher Methoden mit Praxisrelevanz.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b="1" dirty="0"/>
              <a:t>LLM-Revolution</a:t>
            </a:r>
            <a:r>
              <a:rPr lang="de-DE" dirty="0"/>
              <a:t>: Texte sind Daten!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Sinkende Analysekosten – </a:t>
            </a:r>
            <a:r>
              <a:rPr lang="de-DE" b="1" dirty="0"/>
              <a:t>Potenzial von Real-Time-Ansätzen </a:t>
            </a:r>
            <a:r>
              <a:rPr lang="de-DE" dirty="0"/>
              <a:t>für EZB-Beobachtung.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b="1" dirty="0"/>
              <a:t>Zielgruppen:</a:t>
            </a:r>
          </a:p>
          <a:p>
            <a:pPr marL="6849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de-DE" dirty="0"/>
              <a:t>(Fach-)</a:t>
            </a:r>
            <a:r>
              <a:rPr lang="de-DE" dirty="0" err="1"/>
              <a:t>journalisten</a:t>
            </a:r>
            <a:r>
              <a:rPr lang="de-DE" dirty="0"/>
              <a:t> </a:t>
            </a:r>
          </a:p>
          <a:p>
            <a:pPr marL="6849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de-DE" dirty="0"/>
              <a:t>Finanzindustrie</a:t>
            </a:r>
          </a:p>
          <a:p>
            <a:pPr marL="6849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de-DE" dirty="0"/>
              <a:t>Politik</a:t>
            </a:r>
          </a:p>
          <a:p>
            <a:pPr marL="6849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de-DE" dirty="0"/>
              <a:t>Interessierte Öffentlichkeit (z.B. Privatanleger)</a:t>
            </a:r>
          </a:p>
          <a:p>
            <a:pPr marL="684900" lvl="1" indent="-342900">
              <a:buClr>
                <a:schemeClr val="tx1"/>
              </a:buClr>
              <a:buFont typeface="Courier New" panose="02070309020205020404" pitchFamily="49" charset="0"/>
              <a:buChar char="o"/>
            </a:pPr>
            <a:r>
              <a:rPr lang="de-DE" dirty="0"/>
              <a:t>(Wissenschaft – z.B. mit Angebot Daten-Downloads)</a:t>
            </a:r>
          </a:p>
          <a:p>
            <a:endParaRPr lang="de-DE" dirty="0"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DCDF377-8469-3C09-C36C-A58D49EDFD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6DC1BBD-94E5-BD96-CB1E-BE8DDF19F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Motivation EZB-Transparenzmonitor	</a:t>
            </a:r>
          </a:p>
        </p:txBody>
      </p:sp>
    </p:spTree>
    <p:extLst>
      <p:ext uri="{BB962C8B-B14F-4D97-AF65-F5344CB8AC3E}">
        <p14:creationId xmlns:p14="http://schemas.microsoft.com/office/powerpoint/2010/main" val="207472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27CE72C-E3E7-47EC-0DD9-60C68109C56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Zentraler ZEW-EZB-Indikator sollte EZB-Transparenzmonitor begleiten, Frequenz mindestens quartalsweise.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Nationale und europäische Zielgruppen adressieren: zweisprachig.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Nutzwertorientierung – leichte Downloadmöglichkeiten.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Datenangebot: Mit zentralen Zeitreihen starten.</a:t>
            </a:r>
          </a:p>
          <a:p>
            <a:pPr marL="342900" indent="-342900">
              <a:buClrTx/>
              <a:buFont typeface="Symbol" panose="05050102010706020507" pitchFamily="18" charset="2"/>
              <a:buChar char="-"/>
            </a:pPr>
            <a:r>
              <a:rPr lang="de-DE" dirty="0"/>
              <a:t>Geld- und fiskalpolitisches Umfeld inkl. Schuldentragfähigkeit.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0410F77-3953-6F80-7559-D79D2C787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54F4D5B-739D-D95A-9603-55DAD9F94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Ihre Ratschläge zu unserem Auftaktworkshop im Juli 2025</a:t>
            </a:r>
          </a:p>
        </p:txBody>
      </p:sp>
    </p:spTree>
    <p:extLst>
      <p:ext uri="{BB962C8B-B14F-4D97-AF65-F5344CB8AC3E}">
        <p14:creationId xmlns:p14="http://schemas.microsoft.com/office/powerpoint/2010/main" val="564957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D9BDE3D-AA96-6F10-F3AD-A748F99E56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C06A2821-F52C-BD40-B11F-9B14B3F3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0397" y="2636912"/>
            <a:ext cx="8623717" cy="981794"/>
          </a:xfrm>
        </p:spPr>
        <p:txBody>
          <a:bodyPr/>
          <a:lstStyle/>
          <a:p>
            <a:r>
              <a:rPr lang="de-DE" dirty="0"/>
              <a:t>Methodenteil</a:t>
            </a:r>
          </a:p>
        </p:txBody>
      </p:sp>
    </p:spTree>
    <p:extLst>
      <p:ext uri="{BB962C8B-B14F-4D97-AF65-F5344CB8AC3E}">
        <p14:creationId xmlns:p14="http://schemas.microsoft.com/office/powerpoint/2010/main" val="415493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ED45-2F58-5AAA-E76B-8BFAE5620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1C47F6CA-46E4-8B8E-257A-0D756FCE8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D096595-5FCE-A368-B74E-C825110F0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 Methodology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5BD37898-5C79-F5F1-7734-E25A3A6AD2D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Objective: Measure positions of ECB Council members on hawkish-dovishness scale</a:t>
            </a:r>
          </a:p>
          <a:p>
            <a:endParaRPr lang="en-GB" dirty="0"/>
          </a:p>
          <a:p>
            <a:r>
              <a:rPr lang="en-GB" dirty="0"/>
              <a:t>Approach overview:</a:t>
            </a:r>
          </a:p>
          <a:p>
            <a:pPr marL="417909" indent="-417909">
              <a:buFont typeface="+mj-lt"/>
              <a:buAutoNum type="arabicPeriod"/>
            </a:pPr>
            <a:r>
              <a:rPr lang="en-GB" dirty="0"/>
              <a:t>Retrieve central bank speeches from BIS</a:t>
            </a:r>
          </a:p>
          <a:p>
            <a:pPr marL="417909" indent="-417909">
              <a:buFont typeface="+mj-lt"/>
              <a:buAutoNum type="arabicPeriod"/>
            </a:pPr>
            <a:r>
              <a:rPr lang="en-GB" dirty="0"/>
              <a:t>Classify each speech with LLM (GPT-5 mini)</a:t>
            </a:r>
          </a:p>
          <a:p>
            <a:pPr marL="417909" indent="-417909">
              <a:buFont typeface="+mj-lt"/>
              <a:buAutoNum type="arabicPeriod"/>
            </a:pPr>
            <a:r>
              <a:rPr lang="en-GB" dirty="0"/>
              <a:t>Aggregate on level of interest (individual, country, council)</a:t>
            </a:r>
          </a:p>
        </p:txBody>
      </p:sp>
    </p:spTree>
    <p:extLst>
      <p:ext uri="{BB962C8B-B14F-4D97-AF65-F5344CB8AC3E}">
        <p14:creationId xmlns:p14="http://schemas.microsoft.com/office/powerpoint/2010/main" val="216704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&amp; Speech Retrieval 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GB" dirty="0"/>
          </a:p>
          <a:p>
            <a:pPr marL="278606" indent="-278606">
              <a:buFont typeface="Arial" panose="020B0604020202020204" pitchFamily="34" charset="0"/>
              <a:buChar char="•"/>
            </a:pPr>
            <a:r>
              <a:rPr lang="en-GB" dirty="0"/>
              <a:t>Speeches dataset (Bank of International Settlement, 2024)</a:t>
            </a:r>
          </a:p>
          <a:p>
            <a:pPr marL="643632" lvl="1" indent="-278606"/>
            <a:r>
              <a:rPr lang="en-GB" dirty="0"/>
              <a:t>Only English speeches from executive board members and national presidents</a:t>
            </a:r>
          </a:p>
          <a:p>
            <a:pPr marL="643632" lvl="1" indent="-278606"/>
            <a:r>
              <a:rPr lang="en-GB" dirty="0"/>
              <a:t>Cross-check with ECB and Bundesbank databases</a:t>
            </a:r>
          </a:p>
          <a:p>
            <a:pPr marL="179289" indent="-371475">
              <a:buFont typeface="Arial" panose="020B0604020202020204" pitchFamily="34" charset="0"/>
              <a:buChar char="•"/>
            </a:pPr>
            <a:r>
              <a:rPr lang="en-GB" dirty="0"/>
              <a:t>Web scrape most recent data from BIS (real time ambition)</a:t>
            </a:r>
          </a:p>
          <a:p>
            <a:pPr marL="736501" lvl="1" indent="-371475"/>
            <a:r>
              <a:rPr lang="en-GB" dirty="0"/>
              <a:t>Not available in official speeches dataset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8115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BC25C-97B3-C216-EC74-AD2CDFDB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51B4BCF-E3D5-5411-FF2A-8203BFC6C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E2051AA-19FD-A70F-C3E3-A9BDD20E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Methodology: LLM classification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BF436A6-7645-3146-0B52-321188501E9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GB" dirty="0"/>
              <a:t>Hawkish-Dovishness dimension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Scaled between -1 and 1</a:t>
            </a:r>
          </a:p>
          <a:p>
            <a:pPr marL="928688" lvl="1" indent="-371475"/>
            <a:r>
              <a:rPr lang="en-GB" dirty="0"/>
              <a:t>-1 = maximum </a:t>
            </a:r>
            <a:r>
              <a:rPr lang="en-GB" b="1" dirty="0">
                <a:solidFill>
                  <a:srgbClr val="FF0000"/>
                </a:solidFill>
              </a:rPr>
              <a:t>dove</a:t>
            </a:r>
            <a:r>
              <a:rPr lang="en-GB" dirty="0">
                <a:solidFill>
                  <a:srgbClr val="FF0000"/>
                </a:solidFill>
              </a:rPr>
              <a:t> </a:t>
            </a:r>
            <a:r>
              <a:rPr lang="en-GB" dirty="0"/>
              <a:t>(loose monetary policy)</a:t>
            </a:r>
            <a:endParaRPr lang="en-GB" b="1" dirty="0">
              <a:solidFill>
                <a:srgbClr val="FF0000"/>
              </a:solidFill>
            </a:endParaRPr>
          </a:p>
          <a:p>
            <a:pPr marL="928688" lvl="1" indent="-371475"/>
            <a:r>
              <a:rPr lang="en-GB" dirty="0"/>
              <a:t> 1 = maximum </a:t>
            </a:r>
            <a:r>
              <a:rPr lang="en-GB" b="1" dirty="0">
                <a:solidFill>
                  <a:srgbClr val="FF0000"/>
                </a:solidFill>
              </a:rPr>
              <a:t>hawk</a:t>
            </a:r>
            <a:r>
              <a:rPr lang="en-GB" dirty="0"/>
              <a:t> (tight monetary policy)</a:t>
            </a:r>
          </a:p>
          <a:p>
            <a:pPr marL="371475" indent="-371475"/>
            <a:endParaRPr lang="en-GB" b="1" dirty="0">
              <a:solidFill>
                <a:srgbClr val="FF0000"/>
              </a:solidFill>
            </a:endParaRPr>
          </a:p>
          <a:p>
            <a:r>
              <a:rPr lang="en-GB" dirty="0"/>
              <a:t>Classification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Model: GPT-5 mini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Full speech given to model with following prompt: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endParaRPr lang="en-GB" dirty="0"/>
          </a:p>
          <a:p>
            <a:pPr marL="371475" indent="-371475"/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8825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Methodology: Prompt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You have a PhD in Economics and are a </a:t>
            </a:r>
            <a:r>
              <a:rPr lang="en-GB" b="1" dirty="0"/>
              <a:t>researcher specialized in monetary policy</a:t>
            </a:r>
            <a:r>
              <a:rPr lang="en-GB" dirty="0"/>
              <a:t>. Your task is to classify this speech by a member of the European Central Bank Council. […]</a:t>
            </a:r>
            <a:endParaRPr lang="en-US" dirty="0"/>
          </a:p>
          <a:p>
            <a:r>
              <a:rPr lang="en-GB" b="1" dirty="0"/>
              <a:t>Classify</a:t>
            </a:r>
            <a:r>
              <a:rPr lang="en-GB" dirty="0"/>
              <a:t> the opinion of the speaker towards the role of central banks to limit the inflation rate and to </a:t>
            </a:r>
            <a:r>
              <a:rPr lang="en-GB" b="1" dirty="0"/>
              <a:t>protect price stability</a:t>
            </a:r>
            <a:r>
              <a:rPr lang="en-GB" dirty="0"/>
              <a:t>. Return a </a:t>
            </a:r>
            <a:r>
              <a:rPr lang="en-GB" b="1" dirty="0"/>
              <a:t>continuous</a:t>
            </a:r>
            <a:r>
              <a:rPr lang="en-GB" dirty="0"/>
              <a:t> value with one decimal place from -1.0 to +1.0. The interpretation for the extreme and the central values are: </a:t>
            </a:r>
            <a:r>
              <a:rPr lang="en-GB" b="1" dirty="0"/>
              <a:t>-1.0 </a:t>
            </a:r>
            <a:r>
              <a:rPr lang="en-GB" dirty="0"/>
              <a:t>is appropriate if the speaker currently sees no risks at all that the  inflation rate is or will be too high and that there is therefore currently room for a </a:t>
            </a:r>
            <a:r>
              <a:rPr lang="en-GB" b="1" dirty="0"/>
              <a:t>more expansionary </a:t>
            </a:r>
            <a:r>
              <a:rPr lang="en-GB" dirty="0"/>
              <a:t>use of conventional or unconventional monetary policy instruments; </a:t>
            </a:r>
            <a:endParaRPr lang="en-US" dirty="0"/>
          </a:p>
          <a:p>
            <a:r>
              <a:rPr lang="en-GB" b="1" dirty="0"/>
              <a:t>0.0 </a:t>
            </a:r>
            <a:r>
              <a:rPr lang="en-GB" dirty="0"/>
              <a:t>is appropriate if the speaker expresses that the current use of monetary policy instruments is exactly right to reach the central bank’s inflation objective;</a:t>
            </a:r>
            <a:endParaRPr lang="en-US" dirty="0"/>
          </a:p>
          <a:p>
            <a:r>
              <a:rPr lang="en-GB" b="1" dirty="0"/>
              <a:t>1.0</a:t>
            </a:r>
            <a:r>
              <a:rPr lang="en-GB" dirty="0"/>
              <a:t> is appropriate if the speaker currently sees massive risks that the inflation rate is or will be too high in the future and that there is therefore now the need for a </a:t>
            </a:r>
            <a:r>
              <a:rPr lang="en-GB" b="1" dirty="0"/>
              <a:t>more restrictive </a:t>
            </a:r>
            <a:r>
              <a:rPr lang="en-GB" dirty="0"/>
              <a:t>monetary policy. […]</a:t>
            </a:r>
            <a:endParaRPr lang="en-US" dirty="0"/>
          </a:p>
          <a:p>
            <a:r>
              <a:rPr lang="en-GB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620239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480D-25A0-027E-FC70-07E949A07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C30DDA-0E8B-FF18-08A0-AA02972D6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E77C4C1-7C27-3ACE-8DCC-8004E545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Methodology: Validation &amp; Limitations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D83C7A8-3FE1-527D-C867-A55E6DE6F5B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7178" y="1412776"/>
            <a:ext cx="5459917" cy="4392613"/>
          </a:xfrm>
        </p:spPr>
        <p:txBody>
          <a:bodyPr>
            <a:normAutofit fontScale="92500" lnSpcReduction="10000"/>
          </a:bodyPr>
          <a:lstStyle/>
          <a:p>
            <a:pPr marL="371475" indent="-371475"/>
            <a:r>
              <a:rPr lang="en-GB" b="1" dirty="0"/>
              <a:t>Validation </a:t>
            </a:r>
            <a:r>
              <a:rPr lang="en-GB" dirty="0"/>
              <a:t>(Heinemann and Kemper, 2026)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Cross-check for subsample against human validation</a:t>
            </a:r>
          </a:p>
          <a:p>
            <a:pPr marL="928688" lvl="1" indent="-371475"/>
            <a:r>
              <a:rPr lang="en-GB" dirty="0"/>
              <a:t>Strong correlation between human and LLM classification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Strong correlation between Hawkish-Dovishness score and interest rate and main Euro area events (e.g. Euro crisis…)</a:t>
            </a:r>
          </a:p>
          <a:p>
            <a:pPr marL="371475" indent="-371475"/>
            <a:endParaRPr lang="en-GB" b="1" dirty="0">
              <a:solidFill>
                <a:srgbClr val="FF0000"/>
              </a:solidFill>
            </a:endParaRPr>
          </a:p>
          <a:p>
            <a:r>
              <a:rPr lang="en-GB" b="1" dirty="0"/>
              <a:t>Limitations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 LLMs substantial improvement </a:t>
            </a:r>
            <a:r>
              <a:rPr lang="en-GB" dirty="0">
                <a:sym typeface="Wingdings" panose="05000000000000000000" pitchFamily="2" charset="2"/>
              </a:rPr>
              <a:t> </a:t>
            </a:r>
            <a:r>
              <a:rPr lang="en-GB" dirty="0"/>
              <a:t>but measurement error still possible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Based on assumption that speeches reflect position in council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Not for every council member many speeches available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endParaRPr lang="en-GB" dirty="0"/>
          </a:p>
          <a:p>
            <a:pPr marL="371475" indent="-371475"/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7E36D70-1534-D3E0-36D5-F2E08D5B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120" y="2204864"/>
            <a:ext cx="3515701" cy="312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95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96391-BA7D-49FB-88CB-771E0928B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A2B48059-768D-7316-B3C1-246D5407AC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11</a:t>
            </a:fld>
            <a:endParaRPr lang="de-DE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953DBD2-8A18-621C-F96C-90F187EED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Methodology: Different Base Periods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5FA1931-855F-D7C2-5460-5BB1EC24CFC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371475" indent="-371475"/>
            <a:r>
              <a:rPr lang="en-US" dirty="0">
                <a:highlight>
                  <a:srgbClr val="FFFF00"/>
                </a:highlight>
              </a:rPr>
              <a:t>Timeline ECB-ZEW-Momentum Indicator (</a:t>
            </a:r>
            <a:r>
              <a:rPr lang="en-US" b="1" dirty="0">
                <a:highlight>
                  <a:srgbClr val="FFFF00"/>
                </a:highlight>
              </a:rPr>
              <a:t>speeches last six weeks</a:t>
            </a:r>
            <a:r>
              <a:rPr lang="en-US" dirty="0">
                <a:highlight>
                  <a:srgbClr val="FFFF00"/>
                </a:highlight>
              </a:rPr>
              <a:t>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>
                <a:highlight>
                  <a:srgbClr val="FFFF00"/>
                </a:highlight>
              </a:rPr>
              <a:t>Average score for the </a:t>
            </a:r>
            <a:r>
              <a:rPr lang="en-GB" b="1" u="sng" dirty="0">
                <a:highlight>
                  <a:srgbClr val="FFFF00"/>
                </a:highlight>
              </a:rPr>
              <a:t>council</a:t>
            </a:r>
            <a:r>
              <a:rPr lang="en-GB" dirty="0">
                <a:highlight>
                  <a:srgbClr val="FFFF00"/>
                </a:highlight>
              </a:rPr>
              <a:t> over </a:t>
            </a:r>
            <a:r>
              <a:rPr lang="en-GB" b="1" u="sng" dirty="0">
                <a:highlight>
                  <a:srgbClr val="FFFF00"/>
                </a:highlight>
              </a:rPr>
              <a:t>six weeks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b="1" u="sng" dirty="0">
                <a:highlight>
                  <a:srgbClr val="FFFF00"/>
                </a:highlight>
              </a:rPr>
              <a:t>This will be the ZEW ECB Indicator – to be reported quarterly</a:t>
            </a:r>
          </a:p>
          <a:p>
            <a:endParaRPr lang="en-US" dirty="0"/>
          </a:p>
          <a:p>
            <a:r>
              <a:rPr lang="en-US" dirty="0"/>
              <a:t>Majorities ECB Council (speeches over </a:t>
            </a:r>
            <a:r>
              <a:rPr lang="en-US" b="1" dirty="0"/>
              <a:t>one year</a:t>
            </a:r>
            <a:r>
              <a:rPr lang="en-US" dirty="0"/>
              <a:t>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US" dirty="0"/>
              <a:t>Average score per </a:t>
            </a:r>
            <a:r>
              <a:rPr lang="en-US" b="1" u="sng" dirty="0"/>
              <a:t>individual</a:t>
            </a:r>
            <a:r>
              <a:rPr lang="en-US" dirty="0"/>
              <a:t> per </a:t>
            </a:r>
            <a:r>
              <a:rPr lang="en-US" b="1" u="sng" dirty="0"/>
              <a:t>year</a:t>
            </a:r>
          </a:p>
          <a:p>
            <a:pPr marL="371475" indent="-371475"/>
            <a:endParaRPr lang="en-GB" b="1" dirty="0">
              <a:solidFill>
                <a:srgbClr val="FF0000"/>
              </a:solidFill>
            </a:endParaRPr>
          </a:p>
          <a:p>
            <a:pPr marL="371475" indent="-371475"/>
            <a:r>
              <a:rPr lang="en-US" dirty="0"/>
              <a:t>By ECB Council individuals (</a:t>
            </a:r>
            <a:r>
              <a:rPr lang="en-US" b="1" dirty="0"/>
              <a:t>full history </a:t>
            </a:r>
            <a:r>
              <a:rPr lang="en-US" dirty="0"/>
              <a:t>of speeches)</a:t>
            </a:r>
          </a:p>
          <a:p>
            <a:pPr marL="371475" indent="-371475">
              <a:buFont typeface="Arial" panose="020B0604020202020204" pitchFamily="34" charset="0"/>
              <a:buChar char="•"/>
            </a:pPr>
            <a:r>
              <a:rPr lang="en-GB" dirty="0"/>
              <a:t>Average score </a:t>
            </a:r>
            <a:r>
              <a:rPr lang="en-GB" b="1" u="sng" dirty="0"/>
              <a:t>individual</a:t>
            </a:r>
            <a:r>
              <a:rPr lang="en-GB" dirty="0"/>
              <a:t> over </a:t>
            </a:r>
            <a:r>
              <a:rPr lang="en-GB" b="1" u="sng" dirty="0"/>
              <a:t>full history </a:t>
            </a:r>
            <a:r>
              <a:rPr lang="en-GB" dirty="0"/>
              <a:t>of speeches</a:t>
            </a:r>
          </a:p>
          <a:p>
            <a:pPr marL="371475" indent="-371475"/>
            <a:endParaRPr lang="en-GB" dirty="0"/>
          </a:p>
          <a:p>
            <a:pPr marL="371475" indent="-371475"/>
            <a:endParaRPr lang="en-GB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3696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5DA3D484-4517-BFA3-B02B-919E801D87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1A12CDA-83D3-4EF4-BC0D-8D5887487634}" type="slidenum">
              <a:rPr lang="de-DE" smtClean="0"/>
              <a:pPr/>
              <a:t>12</a:t>
            </a:fld>
            <a:endParaRPr lang="de-DE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4DEBEA0E-EDD1-0820-49C7-2B35E37A7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Let‘s</a:t>
            </a:r>
            <a:r>
              <a:rPr lang="de-DE" dirty="0"/>
              <a:t> </a:t>
            </a:r>
            <a:r>
              <a:rPr lang="de-DE" dirty="0" err="1"/>
              <a:t>Now</a:t>
            </a:r>
            <a:r>
              <a:rPr lang="de-DE" dirty="0"/>
              <a:t> </a:t>
            </a:r>
            <a:r>
              <a:rPr lang="de-DE" dirty="0" err="1"/>
              <a:t>have</a:t>
            </a:r>
            <a:r>
              <a:rPr lang="de-DE" dirty="0"/>
              <a:t> a </a:t>
            </a:r>
            <a:r>
              <a:rPr lang="de-DE" dirty="0" err="1"/>
              <a:t>look</a:t>
            </a:r>
            <a:r>
              <a:rPr lang="de-DE" dirty="0"/>
              <a:t> at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2C1E031-C746-AA40-A381-79080BB480B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144688" y="2924944"/>
            <a:ext cx="7128087" cy="3385369"/>
          </a:xfrm>
        </p:spPr>
        <p:txBody>
          <a:bodyPr/>
          <a:lstStyle/>
          <a:p>
            <a:r>
              <a:rPr lang="de-DE" sz="3200" dirty="0"/>
              <a:t>https://ecb-monitor.zew.de/</a:t>
            </a:r>
          </a:p>
        </p:txBody>
      </p:sp>
    </p:spTree>
    <p:extLst>
      <p:ext uri="{BB962C8B-B14F-4D97-AF65-F5344CB8AC3E}">
        <p14:creationId xmlns:p14="http://schemas.microsoft.com/office/powerpoint/2010/main" val="2241768454"/>
      </p:ext>
    </p:extLst>
  </p:cSld>
  <p:clrMapOvr>
    <a:masterClrMapping/>
  </p:clrMapOvr>
</p:sld>
</file>

<file path=ppt/theme/theme1.xml><?xml version="1.0" encoding="utf-8"?>
<a:theme xmlns:a="http://schemas.openxmlformats.org/drawingml/2006/main" name="ZEW Master">
  <a:themeElements>
    <a:clrScheme name="Benutzerdefiniert 2">
      <a:dk1>
        <a:srgbClr val="000000"/>
      </a:dk1>
      <a:lt1>
        <a:sysClr val="window" lastClr="FFFFFF"/>
      </a:lt1>
      <a:dk2>
        <a:srgbClr val="000000"/>
      </a:dk2>
      <a:lt2>
        <a:srgbClr val="505050"/>
      </a:lt2>
      <a:accent1>
        <a:srgbClr val="B4BE28"/>
      </a:accent1>
      <a:accent2>
        <a:srgbClr val="527DA4"/>
      </a:accent2>
      <a:accent3>
        <a:srgbClr val="9C2424"/>
      </a:accent3>
      <a:accent4>
        <a:srgbClr val="C7A92F"/>
      </a:accent4>
      <a:accent5>
        <a:srgbClr val="958C47"/>
      </a:accent5>
      <a:accent6>
        <a:srgbClr val="F79646"/>
      </a:accent6>
      <a:hlink>
        <a:srgbClr val="527DA4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>
          <a:solidFill>
            <a:schemeClr val="accent1"/>
          </a:solidFill>
        </a:ln>
      </a:spPr>
      <a:bodyPr rtlCol="0" anchor="ctr"/>
      <a:lstStyle>
        <a:defPPr algn="ctr">
          <a:defRPr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>
          <a:defRPr dirty="0" err="1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706</Words>
  <Application>Microsoft Office PowerPoint</Application>
  <PresentationFormat>A4-Papier (210 x 297 mm)</PresentationFormat>
  <Paragraphs>103</Paragraphs>
  <Slides>12</Slides>
  <Notes>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Symbol</vt:lpstr>
      <vt:lpstr>Wingdings</vt:lpstr>
      <vt:lpstr>ZEW Master</vt:lpstr>
      <vt:lpstr> Der EZB-Transparenzmonitor     mit Unterstützung der </vt:lpstr>
      <vt:lpstr>Der Kontext: Projekt mit Förderung der Stiftung Geld und Währung</vt:lpstr>
      <vt:lpstr>Motivation EZB-Transparenzmonitor </vt:lpstr>
      <vt:lpstr>Ihre Ratschläge zu unserem Auftaktworkshop im Juli 2025</vt:lpstr>
      <vt:lpstr>Methodenteil</vt:lpstr>
      <vt:lpstr>Overview Methodology</vt:lpstr>
      <vt:lpstr>Data &amp; Speech Retrieval </vt:lpstr>
      <vt:lpstr>Methodology: LLM classification</vt:lpstr>
      <vt:lpstr>Methodology: Prompt</vt:lpstr>
      <vt:lpstr>Methodology: Validation &amp; Limitations</vt:lpstr>
      <vt:lpstr>Methodology: Different Base Periods</vt:lpstr>
      <vt:lpstr>Let‘s Now have a look at</vt:lpstr>
    </vt:vector>
  </TitlesOfParts>
  <Manager>Dominik Rehse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Zentrum für Europäische  Wirtschaftsforschung GmbH (ZEW) Mannheim | Centre for European Economic Research</dc:title>
  <dc:creator>Dominik Rehse</dc:creator>
  <cp:lastModifiedBy>Heinemann, Friedrich</cp:lastModifiedBy>
  <cp:revision>892</cp:revision>
  <cp:lastPrinted>2025-03-31T15:35:15Z</cp:lastPrinted>
  <dcterms:created xsi:type="dcterms:W3CDTF">2014-05-15T09:20:27Z</dcterms:created>
  <dcterms:modified xsi:type="dcterms:W3CDTF">2026-04-13T14:03:16Z</dcterms:modified>
</cp:coreProperties>
</file>