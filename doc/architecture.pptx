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57F_2E5579E7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406" r:id="rId2"/>
    <p:sldId id="1404" r:id="rId3"/>
    <p:sldId id="1405" r:id="rId4"/>
    <p:sldId id="1407" r:id="rId5"/>
  </p:sldIdLst>
  <p:sldSz cx="9906000" cy="6858000" type="A4"/>
  <p:notesSz cx="6669088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754" userDrawn="1">
          <p15:clr>
            <a:srgbClr val="A4A3A4"/>
          </p15:clr>
        </p15:guide>
        <p15:guide id="3" orient="horz" pos="1207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5" orient="horz" pos="1706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8" pos="4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89D656-8E02-B9F1-10F5-52BD840A97A1}" name="Buchmann, Peter" initials="PB" userId="S::Peter.Buchmann@zew.de::70843252-1989-4c43-9d59-ecbae435e4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am" initials="f" lastIdx="2" clrIdx="0"/>
  <p:cmAuthor id="1" name="Microsoft" initials="M" lastIdx="5" clrIdx="1"/>
  <p:cmAuthor id="2" name="Sarah-Esther Ciaglia" initials="SC" lastIdx="1" clrIdx="2">
    <p:extLst>
      <p:ext uri="{19B8F6BF-5375-455C-9EA6-DF929625EA0E}">
        <p15:presenceInfo xmlns:p15="http://schemas.microsoft.com/office/powerpoint/2012/main" userId="S-1-5-21-3463609259-212226432-2349557979-4741" providerId="AD"/>
      </p:ext>
    </p:extLst>
  </p:cmAuthor>
  <p:cmAuthor id="3" name="Friedrich Heinemann" initials="FHE" lastIdx="1" clrIdx="3">
    <p:extLst>
      <p:ext uri="{19B8F6BF-5375-455C-9EA6-DF929625EA0E}">
        <p15:presenceInfo xmlns:p15="http://schemas.microsoft.com/office/powerpoint/2012/main" userId="Friedrich Heinemann" providerId="None"/>
      </p:ext>
    </p:extLst>
  </p:cmAuthor>
  <p:cmAuthor id="4" name="Kemper, Jan" initials="KJ" lastIdx="1" clrIdx="4">
    <p:extLst>
      <p:ext uri="{19B8F6BF-5375-455C-9EA6-DF929625EA0E}">
        <p15:presenceInfo xmlns:p15="http://schemas.microsoft.com/office/powerpoint/2012/main" userId="S-1-5-21-3463609259-212226432-2349557979-83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7DA4"/>
    <a:srgbClr val="B4BE28"/>
    <a:srgbClr val="009900"/>
    <a:srgbClr val="9C2438"/>
    <a:srgbClr val="C7A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381" autoAdjust="0"/>
  </p:normalViewPr>
  <p:slideViewPr>
    <p:cSldViewPr snapToObjects="1">
      <p:cViewPr varScale="1">
        <p:scale>
          <a:sx n="73" d="100"/>
          <a:sy n="73" d="100"/>
        </p:scale>
        <p:origin x="67" y="269"/>
      </p:cViewPr>
      <p:guideLst>
        <p:guide orient="horz" pos="346"/>
        <p:guide orient="horz" pos="754"/>
        <p:guide orient="horz" pos="1207"/>
        <p:guide orient="horz" pos="4110"/>
        <p:guide orient="horz" pos="1706"/>
        <p:guide pos="6068"/>
        <p:guide pos="172"/>
        <p:guide pos="40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68" d="100"/>
          <a:sy n="68" d="100"/>
        </p:scale>
        <p:origin x="3067" y="67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57F_2E5579E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092677-D017-4272-BA05-B5AD5EB8D378}" authorId="{D189D656-8E02-B9F1-10F5-52BD840A97A1}" created="2026-09-11T07:24:50.41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777353703" sldId="1407"/>
      <ac:spMk id="34" creationId="{5B6E46C9-56C8-F21E-1BA4-D5E4FEFC31A9}"/>
    </ac:deMkLst>
    <p188:txBody>
      <a:bodyPr/>
      <a:lstStyle/>
      <a:p>
        <a:r>
          <a:rPr lang="de-DE"/>
          <a:t>Server side OCR of image-only PDF text,
„headless browser“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7608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7608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r">
              <a:defRPr sz="1100"/>
            </a:lvl1pPr>
          </a:lstStyle>
          <a:p>
            <a:fld id="{7F7E0C50-4D70-8F4B-B7EF-9539930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09458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8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2" tIns="45361" rIns="90722" bIns="4536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15155"/>
            <a:ext cx="5335270" cy="4466987"/>
          </a:xfrm>
          <a:prstGeom prst="rect">
            <a:avLst/>
          </a:prstGeom>
        </p:spPr>
        <p:txBody>
          <a:bodyPr vert="horz" lIns="90722" tIns="45361" rIns="90722" bIns="45361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8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r">
              <a:defRPr sz="1100"/>
            </a:lvl1pPr>
          </a:lstStyle>
          <a:p>
            <a:fld id="{CF1E3524-81C1-473B-AE0F-697B830EC5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75030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6A2E-C513-859D-A92D-E4627EE47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4C4F9BC-157A-EA0B-5E07-0C72A32ED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F5E9CD2-7A3E-C459-2671-8DCA9A7EFB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21E31A4-1998-5A69-A69D-EDDA867B66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568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9117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C9DAB-9B1C-A7B0-6B6E-B17CB896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3F8A7FE-72ED-6A01-EDFC-AD82C4741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B1745D3-810A-0ABC-5FB2-EB74DA2A4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F4C330-D6C6-38EA-7054-A6C60EF2459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8627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69AD-0C6D-5AA8-0B82-B6777F9A0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68E1361-08D2-9739-99D5-9D17800AC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80ECFA4-B0C6-5665-0683-BC298D23E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The </a:t>
            </a:r>
            <a:r>
              <a:rPr lang="de-DE" dirty="0" err="1"/>
              <a:t>thicker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frame </a:t>
            </a:r>
            <a:r>
              <a:rPr lang="de-DE" dirty="0" err="1"/>
              <a:t>border</a:t>
            </a:r>
            <a:r>
              <a:rPr lang="de-DE" dirty="0"/>
              <a:t>,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hours</a:t>
            </a:r>
            <a:r>
              <a:rPr lang="de-DE" dirty="0"/>
              <a:t> </a:t>
            </a:r>
            <a:r>
              <a:rPr lang="de-DE" dirty="0" err="1"/>
              <a:t>required</a:t>
            </a:r>
            <a:endParaRPr lang="de-DE" dirty="0"/>
          </a:p>
          <a:p>
            <a:r>
              <a:rPr lang="de-DE" dirty="0"/>
              <a:t>Grey </a:t>
            </a:r>
            <a:r>
              <a:rPr lang="de-DE" dirty="0" err="1"/>
              <a:t>background</a:t>
            </a:r>
            <a:r>
              <a:rPr lang="de-DE" dirty="0"/>
              <a:t>: Admin, </a:t>
            </a:r>
            <a:r>
              <a:rPr lang="de-DE" dirty="0" err="1"/>
              <a:t>white</a:t>
            </a:r>
            <a:r>
              <a:rPr lang="de-DE" dirty="0"/>
              <a:t>: Coding</a:t>
            </a:r>
            <a:br>
              <a:rPr lang="de-DE" dirty="0"/>
            </a:br>
            <a:r>
              <a:rPr lang="de-DE" dirty="0"/>
              <a:t>AI: Can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scaffolds</a:t>
            </a:r>
            <a:r>
              <a:rPr lang="de-DE" dirty="0"/>
              <a:t> </a:t>
            </a:r>
            <a:r>
              <a:rPr lang="de-DE" dirty="0" err="1"/>
              <a:t>across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boxes</a:t>
            </a:r>
            <a:r>
              <a:rPr lang="de-DE" dirty="0"/>
              <a:t>.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1FB0AA-C2CF-8469-F2EA-A4C254CA938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2235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:\Wegweiser\Medien\ZEW_Logo\ZEW Logo Farbe\ZEW-Logo_ohne Schriftzu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288" y="5877272"/>
            <a:ext cx="1320006" cy="44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:\WW\Hiwis_und_Praktikanten\Konstantin\Musterpräsentation\LogoLeibniz_Farbe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14" y="5845075"/>
            <a:ext cx="876573" cy="5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00000" y="1080000"/>
            <a:ext cx="6833964" cy="1484904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de-DE" sz="48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Hier steht der Titel der Präsentation</a:t>
            </a:r>
            <a:endParaRPr kumimoji="0" lang="de-DE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1800000" y="3735703"/>
            <a:ext cx="5903912" cy="36326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noProof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weiterer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Titel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800000" y="2679128"/>
            <a:ext cx="5905500" cy="36021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Prof. Dr. XXX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800000" y="3015623"/>
            <a:ext cx="5905500" cy="36021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DD.MM.YYYY</a:t>
            </a:r>
          </a:p>
        </p:txBody>
      </p:sp>
    </p:spTree>
    <p:extLst>
      <p:ext uri="{BB962C8B-B14F-4D97-AF65-F5344CB8AC3E}">
        <p14:creationId xmlns:p14="http://schemas.microsoft.com/office/powerpoint/2010/main" val="269183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zeiliger Titel, 1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3050" y="620688"/>
            <a:ext cx="9359900" cy="548184"/>
          </a:xfrm>
          <a:prstGeom prst="rect">
            <a:avLst/>
          </a:prstGeom>
        </p:spPr>
        <p:txBody>
          <a:bodyPr lIns="90000" tIns="36000" rIns="90000" bIns="36000"/>
          <a:lstStyle>
            <a:lvl1pPr>
              <a:defRPr sz="2100" cap="none"/>
            </a:lvl1pPr>
          </a:lstStyle>
          <a:p>
            <a:endParaRPr lang="de-DE" dirty="0"/>
          </a:p>
        </p:txBody>
      </p:sp>
      <p:pic>
        <p:nvPicPr>
          <p:cNvPr id="6" name="Bild 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66136" y="6551402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277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 userDrawn="1">
          <p15:clr>
            <a:srgbClr val="FBAE40"/>
          </p15:clr>
        </p15:guide>
        <p15:guide id="2" pos="60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1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63360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9600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633413" y="763588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15" name="Inhaltsplatzhalter 9"/>
          <p:cNvSpPr>
            <a:spLocks noGrp="1"/>
          </p:cNvSpPr>
          <p:nvPr>
            <p:ph sz="quarter" idx="10"/>
          </p:nvPr>
        </p:nvSpPr>
        <p:spPr>
          <a:xfrm>
            <a:off x="633600" y="1917700"/>
            <a:ext cx="86391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endParaRPr lang="de-DE" dirty="0"/>
          </a:p>
        </p:txBody>
      </p:sp>
      <p:pic>
        <p:nvPicPr>
          <p:cNvPr id="16" name="Bild 1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zeiliger Titel, 2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632520" y="764704"/>
            <a:ext cx="8640068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19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1211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633600" y="1485901"/>
            <a:ext cx="4089275" cy="48244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pic>
        <p:nvPicPr>
          <p:cNvPr id="13" name="Bild 12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9" name="Inhaltsplatzhalter 2"/>
          <p:cNvSpPr>
            <a:spLocks noGrp="1"/>
          </p:cNvSpPr>
          <p:nvPr>
            <p:ph sz="quarter" idx="11"/>
          </p:nvPr>
        </p:nvSpPr>
        <p:spPr>
          <a:xfrm>
            <a:off x="5173245" y="1485901"/>
            <a:ext cx="4089275" cy="48244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039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2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3003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itel 1"/>
          <p:cNvSpPr>
            <a:spLocks noGrp="1"/>
          </p:cNvSpPr>
          <p:nvPr>
            <p:ph type="title" hasCustomPrompt="1"/>
          </p:nvPr>
        </p:nvSpPr>
        <p:spPr>
          <a:xfrm>
            <a:off x="632573" y="763588"/>
            <a:ext cx="8640907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9" name="Bild 8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10" name="Inhaltsplatzhalter 2"/>
          <p:cNvSpPr>
            <a:spLocks noGrp="1"/>
          </p:cNvSpPr>
          <p:nvPr>
            <p:ph sz="quarter" idx="10"/>
          </p:nvPr>
        </p:nvSpPr>
        <p:spPr>
          <a:xfrm>
            <a:off x="633600" y="1917700"/>
            <a:ext cx="40892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1" name="Inhaltsplatzhalter 2"/>
          <p:cNvSpPr>
            <a:spLocks noGrp="1"/>
          </p:cNvSpPr>
          <p:nvPr>
            <p:ph sz="quarter" idx="11"/>
          </p:nvPr>
        </p:nvSpPr>
        <p:spPr>
          <a:xfrm>
            <a:off x="5182041" y="1917700"/>
            <a:ext cx="40892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211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33600" y="1917700"/>
            <a:ext cx="8638988" cy="43926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  <a:defRPr b="0" i="0"/>
            </a:lvl1pPr>
            <a:lvl2pPr marL="342000" indent="0">
              <a:lnSpc>
                <a:spcPts val="2000"/>
              </a:lnSpc>
              <a:spcBef>
                <a:spcPts val="100"/>
              </a:spcBef>
              <a:buFontTx/>
              <a:buNone/>
              <a:defRPr/>
            </a:lvl2pPr>
            <a:lvl3pPr marL="180000" indent="0">
              <a:buFontTx/>
              <a:buNone/>
              <a:defRPr/>
            </a:lvl3pPr>
          </a:lstStyle>
          <a:p>
            <a:pPr lvl="0"/>
            <a:endParaRPr lang="de-DE" dirty="0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625211" y="763588"/>
            <a:ext cx="8623717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3" name="Bild 12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liederungsebe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33413" y="1917701"/>
            <a:ext cx="8639175" cy="4392612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 smtClean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"/>
          <p:cNvSpPr>
            <a:spLocks noGrp="1"/>
          </p:cNvSpPr>
          <p:nvPr>
            <p:ph type="title" hasCustomPrompt="1"/>
          </p:nvPr>
        </p:nvSpPr>
        <p:spPr>
          <a:xfrm>
            <a:off x="625024" y="759417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Bild 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3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liederungsebe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625024" y="763588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Bild 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633414" y="1917701"/>
            <a:ext cx="8639174" cy="4392612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469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Text mit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3360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1123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Titel 1"/>
          <p:cNvSpPr>
            <a:spLocks noGrp="1"/>
          </p:cNvSpPr>
          <p:nvPr>
            <p:ph type="title"/>
          </p:nvPr>
        </p:nvSpPr>
        <p:spPr>
          <a:xfrm>
            <a:off x="625024" y="764704"/>
            <a:ext cx="8639175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15" name="Bild 14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633414" y="1485900"/>
            <a:ext cx="8639174" cy="4824413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862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Grafik, 1 Spal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625211" y="765640"/>
            <a:ext cx="8634059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18" name="Bild 1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3" y="1485900"/>
            <a:ext cx="3743523" cy="48244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80000"/>
              </a:lnSpc>
              <a:spcBef>
                <a:spcPts val="400"/>
              </a:spcBef>
              <a:buFontTx/>
              <a:buNone/>
              <a:defRPr/>
            </a:lvl1pPr>
          </a:lstStyle>
          <a:p>
            <a:pPr lvl="0"/>
            <a:r>
              <a:rPr lang="de-DE" dirty="0"/>
              <a:t>Objekt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5025008" y="1485900"/>
            <a:ext cx="4247580" cy="48244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418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0835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Bild 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95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742950" y="1981200"/>
            <a:ext cx="84201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C1D2A193-0E07-4D57-91FA-B230AFA3092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731636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9812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B8972-D613-4840-A2B3-1E4A6CAB1F2E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96619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742950" y="1981200"/>
            <a:ext cx="84201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A371CBB4-E08C-4D62-9221-C71248BA951B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83709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8A035-105A-416C-95A9-DF36EC924CB5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49118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9EEBD0-682E-4ED1-987F-8E094F6AFA3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0830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4E2F2D-8D9A-48C8-8D29-6EA451C747A3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39242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80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2" r:id="rId4"/>
    <p:sldLayoutId id="2147483654" r:id="rId5"/>
    <p:sldLayoutId id="2147483657" r:id="rId6"/>
    <p:sldLayoutId id="2147483656" r:id="rId7"/>
    <p:sldLayoutId id="2147483659" r:id="rId8"/>
    <p:sldLayoutId id="2147483651" r:id="rId9"/>
    <p:sldLayoutId id="2147483653" r:id="rId10"/>
    <p:sldLayoutId id="2147483655" r:id="rId11"/>
    <p:sldLayoutId id="2147483662" r:id="rId12"/>
    <p:sldLayoutId id="2147483663" r:id="rId13"/>
    <p:sldLayoutId id="2147483664" r:id="rId14"/>
    <p:sldLayoutId id="2147483666" r:id="rId15"/>
    <p:sldLayoutId id="2147483668" r:id="rId16"/>
    <p:sldLayoutId id="2147483670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100">
          <a:solidFill>
            <a:schemeClr val="tx1"/>
          </a:solidFill>
          <a:latin typeface="Calibri"/>
          <a:ea typeface="+mj-ea"/>
          <a:cs typeface="Arial" panose="020B0604020202020204" pitchFamily="34" charset="0"/>
        </a:defRPr>
      </a:lvl1pPr>
    </p:titleStyle>
    <p:bodyStyle>
      <a:lvl1pPr marL="182563" indent="-182563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/>
          <a:ea typeface="+mn-ea"/>
          <a:cs typeface="Calibri"/>
        </a:defRPr>
      </a:lvl1pPr>
      <a:lvl2pPr marL="449263" indent="-2667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/>
          <a:ea typeface="+mn-ea"/>
          <a:cs typeface="Calibri"/>
        </a:defRPr>
      </a:lvl2pPr>
      <a:lvl3pPr marL="714375" indent="-265113" algn="l" defTabSz="914400" rtl="0" eaLnBrk="1" latinLnBrk="0" hangingPunct="1">
        <a:spcBef>
          <a:spcPct val="20000"/>
        </a:spcBef>
        <a:buClr>
          <a:schemeClr val="accent1"/>
        </a:buClr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Calibri"/>
          <a:ea typeface="+mn-ea"/>
          <a:cs typeface="Calibri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cb-monitor.zew.d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.zew.de/ub-public-finance/ecb-monitor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57F_2E5579E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017B-B994-87B0-A158-FF6CDF06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426D21A-65E2-4A69-26EC-8B97B63EB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2FA3328-5D62-192C-E188-370B805EF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763588"/>
            <a:ext cx="9272587" cy="649188"/>
          </a:xfrm>
        </p:spPr>
        <p:txBody>
          <a:bodyPr/>
          <a:lstStyle/>
          <a:p>
            <a:r>
              <a:rPr lang="en-GB" noProof="0" dirty="0"/>
              <a:t>EZB Monitor – “hub”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5887DFE-30E9-02CD-95AF-5709D5E14DE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3600" y="1916707"/>
            <a:ext cx="8639175" cy="439261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Website combines disparate information</a:t>
            </a:r>
            <a:br>
              <a:rPr lang="en-GB" sz="2400" dirty="0"/>
            </a:br>
            <a:endParaRPr lang="en-GB" sz="24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i="1" dirty="0"/>
              <a:t>Daily </a:t>
            </a:r>
            <a:r>
              <a:rPr lang="en-GB" sz="2400" dirty="0"/>
              <a:t>digest of selected country stats </a:t>
            </a:r>
            <a:br>
              <a:rPr lang="en-GB" sz="2400" dirty="0"/>
            </a:br>
            <a:r>
              <a:rPr lang="en-GB" sz="2400" dirty="0"/>
              <a:t>from </a:t>
            </a:r>
            <a:r>
              <a:rPr lang="en-GB" sz="2400" dirty="0" err="1"/>
              <a:t>Ameco</a:t>
            </a:r>
            <a:r>
              <a:rPr lang="en-GB" sz="2400" dirty="0"/>
              <a:t> and Eurostat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i="1" dirty="0"/>
              <a:t>~biweekly </a:t>
            </a:r>
            <a:r>
              <a:rPr lang="en-GB" sz="2400" dirty="0"/>
              <a:t>digest of ECB  communications and speeches</a:t>
            </a:r>
          </a:p>
          <a:p>
            <a:pPr marL="1057275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=&gt; LLM computed “scores” on ECB members and 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Editorials on council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Editorials on academic research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044547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633413" y="763588"/>
            <a:ext cx="9272587" cy="649188"/>
          </a:xfrm>
        </p:spPr>
        <p:txBody>
          <a:bodyPr/>
          <a:lstStyle/>
          <a:p>
            <a:r>
              <a:rPr lang="en-GB" noProof="0" dirty="0"/>
              <a:t>EZB Monitor – IT System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0"/>
          </p:nvPr>
        </p:nvSpPr>
        <p:spPr>
          <a:xfrm>
            <a:off x="633600" y="1916707"/>
            <a:ext cx="8639175" cy="439261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noProof="0" dirty="0"/>
              <a:t>Website/Portal to communicate research</a:t>
            </a:r>
            <a:br>
              <a:rPr lang="en-GB" sz="2400" noProof="0" dirty="0"/>
            </a:br>
            <a:r>
              <a:rPr lang="en-GB" sz="2400" noProof="0" dirty="0">
                <a:hlinkClick r:id="rId3"/>
              </a:rPr>
              <a:t>https://ecb-monitor.zew.de</a:t>
            </a:r>
            <a:endParaRPr lang="en-GB" sz="2400" noProof="0" dirty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</a:t>
            </a:r>
            <a:r>
              <a:rPr lang="en-GB" sz="2400" noProof="0" dirty="0" err="1"/>
              <a:t>ubdomain</a:t>
            </a:r>
            <a:r>
              <a:rPr lang="en-GB" sz="2400" noProof="0" dirty="0"/>
              <a:t> of ZEW Institute, hosted at ZEW Institute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Separate webserver, hosted at ZEW institute, at “DMZ”</a:t>
            </a:r>
            <a:endParaRPr lang="en-GB" sz="2400" noProof="0" dirty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ZEW corporate design – cooperation with KOM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Illustrations via behance.net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Separate visitor statistics – no cookies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100% Open-Source software</a:t>
            </a:r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/>
              <a:t>Debian Linux, Apache, Python, Flask, </a:t>
            </a:r>
            <a:r>
              <a:rPr lang="en-GB" dirty="0" err="1"/>
              <a:t>ECharts</a:t>
            </a:r>
            <a:endParaRPr lang="en-GB" dirty="0"/>
          </a:p>
          <a:p>
            <a:pPr marL="792163" lvl="1" indent="-342900">
              <a:buFont typeface="Arial" panose="020B0604020202020204" pitchFamily="34" charset="0"/>
              <a:buChar char="•"/>
            </a:pPr>
            <a:r>
              <a:rPr lang="en-GB" dirty="0"/>
              <a:t>Code, data and content as git repository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GB" sz="24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endParaRPr lang="en-GB" sz="2400" noProof="0" dirty="0"/>
          </a:p>
        </p:txBody>
      </p:sp>
    </p:spTree>
    <p:extLst>
      <p:ext uri="{BB962C8B-B14F-4D97-AF65-F5344CB8AC3E}">
        <p14:creationId xmlns:p14="http://schemas.microsoft.com/office/powerpoint/2010/main" val="218185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96073-6261-44AF-3026-375E5901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Verbinder: gewinkelt 61">
            <a:extLst>
              <a:ext uri="{FF2B5EF4-FFF2-40B4-BE49-F238E27FC236}">
                <a16:creationId xmlns:a16="http://schemas.microsoft.com/office/drawing/2014/main" id="{79C19A43-1C89-F913-0586-20272387E98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808984" y="2882491"/>
            <a:ext cx="792088" cy="547625"/>
          </a:xfrm>
          <a:prstGeom prst="bentConnector3">
            <a:avLst>
              <a:gd name="adj1" fmla="val 50000"/>
            </a:avLst>
          </a:prstGeom>
          <a:ln w="38100">
            <a:solidFill>
              <a:srgbClr val="527DA4"/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Grafik 36" descr="Ein Bild, das Kreis, Screenshot, Symbol, Design enthält.&#10;&#10;KI-generierte Inhalte können fehlerhaft sein.">
            <a:extLst>
              <a:ext uri="{FF2B5EF4-FFF2-40B4-BE49-F238E27FC236}">
                <a16:creationId xmlns:a16="http://schemas.microsoft.com/office/drawing/2014/main" id="{0833C4AE-303E-491B-019A-C1962D2F8C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056" y="2013498"/>
            <a:ext cx="2905530" cy="3000794"/>
          </a:xfrm>
          <a:prstGeom prst="rect">
            <a:avLst/>
          </a:prstGeom>
        </p:spPr>
      </p:pic>
      <p:pic>
        <p:nvPicPr>
          <p:cNvPr id="22" name="Grafik 21" descr="Ein Bild, das Entwurf, Kreis, Design, Licht enthält.&#10;&#10;KI-generierte Inhalte können fehlerhaft sein.">
            <a:extLst>
              <a:ext uri="{FF2B5EF4-FFF2-40B4-BE49-F238E27FC236}">
                <a16:creationId xmlns:a16="http://schemas.microsoft.com/office/drawing/2014/main" id="{58AE8192-E860-DFE0-BD98-880FEB5A5F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20" y="2394376"/>
            <a:ext cx="2149782" cy="1885961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6BF91775-CAB1-4195-9C90-2619310BB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776050"/>
            <a:ext cx="9000107" cy="420702"/>
          </a:xfrm>
        </p:spPr>
        <p:txBody>
          <a:bodyPr/>
          <a:lstStyle/>
          <a:p>
            <a:r>
              <a:rPr lang="en-GB" noProof="0" dirty="0"/>
              <a:t>EZB Monitor – Data Flow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D75E43C-230D-0A97-AAFB-3F47F7086DE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3600" y="1414659"/>
            <a:ext cx="8639175" cy="50217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dirty="0">
                <a:hlinkClick r:id="rId5"/>
              </a:rPr>
              <a:t>https://git.zew.de/ub-public-finance/ecb-monitor</a:t>
            </a:r>
            <a:endParaRPr lang="en-GB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noProof="0" dirty="0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BB22333D-D2E7-FC84-FDE7-1C4A2BD4C813}"/>
              </a:ext>
            </a:extLst>
          </p:cNvPr>
          <p:cNvSpPr/>
          <p:nvPr/>
        </p:nvSpPr>
        <p:spPr>
          <a:xfrm>
            <a:off x="3512840" y="2422004"/>
            <a:ext cx="1296144" cy="936104"/>
          </a:xfrm>
          <a:prstGeom prst="roundRect">
            <a:avLst/>
          </a:prstGeom>
          <a:noFill/>
          <a:ln w="28575">
            <a:solidFill>
              <a:srgbClr val="527D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</a:t>
            </a:r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AA429E0-C7BD-7F95-BD06-D4A3D93EB260}"/>
              </a:ext>
            </a:extLst>
          </p:cNvPr>
          <p:cNvSpPr/>
          <p:nvPr/>
        </p:nvSpPr>
        <p:spPr>
          <a:xfrm>
            <a:off x="5601072" y="2566020"/>
            <a:ext cx="1368152" cy="1728192"/>
          </a:xfrm>
          <a:prstGeom prst="roundRect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</a:t>
            </a:r>
            <a:b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4E2A7001-EC16-BD19-AFC6-F92D0554E2E2}"/>
              </a:ext>
            </a:extLst>
          </p:cNvPr>
          <p:cNvSpPr/>
          <p:nvPr/>
        </p:nvSpPr>
        <p:spPr>
          <a:xfrm>
            <a:off x="704528" y="4365104"/>
            <a:ext cx="2016224" cy="360040"/>
          </a:xfrm>
          <a:prstGeom prst="roundRect">
            <a:avLst/>
          </a:prstGeom>
          <a:noFill/>
          <a:ln w="28575">
            <a:solidFill>
              <a:srgbClr val="527D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Blog, </a:t>
            </a:r>
            <a:r>
              <a:rPr lang="de-D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editorials</a:t>
            </a:r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39343B16-0040-5A72-5DB1-9537056776D8}"/>
              </a:ext>
            </a:extLst>
          </p:cNvPr>
          <p:cNvSpPr/>
          <p:nvPr/>
        </p:nvSpPr>
        <p:spPr>
          <a:xfrm>
            <a:off x="704528" y="5373216"/>
            <a:ext cx="2016224" cy="360040"/>
          </a:xfrm>
          <a:prstGeom prst="roundRect">
            <a:avLst/>
          </a:prstGeom>
          <a:noFill/>
          <a:ln w="28575">
            <a:solidFill>
              <a:srgbClr val="527D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</a:t>
            </a:r>
            <a:r>
              <a:rPr lang="de-DE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b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moved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1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sz="11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</a:t>
            </a:r>
            <a:endParaRPr lang="de-D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FF0A665-0CA5-BF71-BD7E-9BC685E3C982}"/>
              </a:ext>
            </a:extLst>
          </p:cNvPr>
          <p:cNvSpPr/>
          <p:nvPr/>
        </p:nvSpPr>
        <p:spPr>
          <a:xfrm>
            <a:off x="704528" y="5877272"/>
            <a:ext cx="2016224" cy="360040"/>
          </a:xfrm>
          <a:prstGeom prst="roundRect">
            <a:avLst/>
          </a:prstGeom>
          <a:noFill/>
          <a:ln w="28575">
            <a:solidFill>
              <a:srgbClr val="527D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b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5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phased</a:t>
            </a:r>
            <a:r>
              <a:rPr lang="de-DE" sz="105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</a:t>
            </a:r>
            <a:endParaRPr lang="de-D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Verbinder: gewinkelt 10">
            <a:extLst>
              <a:ext uri="{FF2B5EF4-FFF2-40B4-BE49-F238E27FC236}">
                <a16:creationId xmlns:a16="http://schemas.microsoft.com/office/drawing/2014/main" id="{D073D429-931B-7721-E56B-EC9428039384}"/>
              </a:ext>
            </a:extLst>
          </p:cNvPr>
          <p:cNvCxnSpPr>
            <a:cxnSpLocks/>
            <a:stCxn id="7" idx="3"/>
            <a:endCxn id="2" idx="1"/>
          </p:cNvCxnSpPr>
          <p:nvPr/>
        </p:nvCxnSpPr>
        <p:spPr>
          <a:xfrm flipV="1">
            <a:off x="2720752" y="2890056"/>
            <a:ext cx="792088" cy="1655068"/>
          </a:xfrm>
          <a:prstGeom prst="bentConnector3">
            <a:avLst>
              <a:gd name="adj1" fmla="val 50000"/>
            </a:avLst>
          </a:prstGeom>
          <a:ln w="25400"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Verbinder: gewinkelt 13">
            <a:extLst>
              <a:ext uri="{FF2B5EF4-FFF2-40B4-BE49-F238E27FC236}">
                <a16:creationId xmlns:a16="http://schemas.microsoft.com/office/drawing/2014/main" id="{A7785BA8-352F-13FB-54AB-5D1867E43BDA}"/>
              </a:ext>
            </a:extLst>
          </p:cNvPr>
          <p:cNvCxnSpPr>
            <a:cxnSpLocks/>
            <a:stCxn id="2" idx="1"/>
            <a:endCxn id="8" idx="3"/>
          </p:cNvCxnSpPr>
          <p:nvPr/>
        </p:nvCxnSpPr>
        <p:spPr>
          <a:xfrm rot="10800000" flipV="1">
            <a:off x="2720752" y="2890056"/>
            <a:ext cx="792088" cy="2663180"/>
          </a:xfrm>
          <a:prstGeom prst="bentConnector3">
            <a:avLst>
              <a:gd name="adj1" fmla="val 50000"/>
            </a:avLst>
          </a:prstGeom>
          <a:ln w="25400"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erbinder: gewinkelt 17">
            <a:extLst>
              <a:ext uri="{FF2B5EF4-FFF2-40B4-BE49-F238E27FC236}">
                <a16:creationId xmlns:a16="http://schemas.microsoft.com/office/drawing/2014/main" id="{D76581CB-61D1-FEBA-B1A5-DF4BB8608E4F}"/>
              </a:ext>
            </a:extLst>
          </p:cNvPr>
          <p:cNvCxnSpPr>
            <a:cxnSpLocks/>
            <a:stCxn id="2" idx="1"/>
            <a:endCxn id="9" idx="3"/>
          </p:cNvCxnSpPr>
          <p:nvPr/>
        </p:nvCxnSpPr>
        <p:spPr>
          <a:xfrm rot="10800000" flipV="1">
            <a:off x="2720752" y="2890056"/>
            <a:ext cx="792088" cy="3167236"/>
          </a:xfrm>
          <a:prstGeom prst="bentConnector3">
            <a:avLst>
              <a:gd name="adj1" fmla="val 50000"/>
            </a:avLst>
          </a:prstGeom>
          <a:ln w="25400"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Verbinder: gewinkelt 27">
            <a:extLst>
              <a:ext uri="{FF2B5EF4-FFF2-40B4-BE49-F238E27FC236}">
                <a16:creationId xmlns:a16="http://schemas.microsoft.com/office/drawing/2014/main" id="{40888564-F901-2A36-CB8D-8D52276002BF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4808984" y="2890056"/>
            <a:ext cx="792088" cy="540060"/>
          </a:xfrm>
          <a:prstGeom prst="bentConnector3">
            <a:avLst>
              <a:gd name="adj1" fmla="val 50000"/>
            </a:avLst>
          </a:prstGeom>
          <a:ln w="25400"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01CF84D2-5480-287C-46F2-49A8D594762C}"/>
              </a:ext>
            </a:extLst>
          </p:cNvPr>
          <p:cNvSpPr/>
          <p:nvPr/>
        </p:nvSpPr>
        <p:spPr>
          <a:xfrm>
            <a:off x="7373946" y="5384911"/>
            <a:ext cx="2016224" cy="360040"/>
          </a:xfrm>
          <a:prstGeom prst="roundRect">
            <a:avLst/>
          </a:prstGeom>
          <a:noFill/>
          <a:ln w="28575">
            <a:solidFill>
              <a:srgbClr val="527D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ameco</a:t>
            </a:r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4F298A50-CA95-18D1-B032-67830635BFC8}"/>
              </a:ext>
            </a:extLst>
          </p:cNvPr>
          <p:cNvSpPr/>
          <p:nvPr/>
        </p:nvSpPr>
        <p:spPr>
          <a:xfrm>
            <a:off x="7373946" y="5878388"/>
            <a:ext cx="2016224" cy="360040"/>
          </a:xfrm>
          <a:prstGeom prst="roundRect">
            <a:avLst/>
          </a:prstGeom>
          <a:noFill/>
          <a:ln w="28575">
            <a:solidFill>
              <a:srgbClr val="527D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eurostat</a:t>
            </a:r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2304A280-9D5F-8542-1536-364BD3407FF0}"/>
              </a:ext>
            </a:extLst>
          </p:cNvPr>
          <p:cNvSpPr/>
          <p:nvPr/>
        </p:nvSpPr>
        <p:spPr>
          <a:xfrm>
            <a:off x="7354474" y="4517799"/>
            <a:ext cx="2016224" cy="687091"/>
          </a:xfrm>
          <a:prstGeom prst="roundRect">
            <a:avLst/>
          </a:prstGeom>
          <a:noFill/>
          <a:ln w="28575">
            <a:solidFill>
              <a:srgbClr val="527D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ECB </a:t>
            </a:r>
            <a:r>
              <a:rPr lang="de-DE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speeches</a:t>
            </a:r>
            <a:b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</a:t>
            </a:r>
            <a:r>
              <a:rPr lang="de-DE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4" name="Verbinder: gewinkelt 43">
            <a:extLst>
              <a:ext uri="{FF2B5EF4-FFF2-40B4-BE49-F238E27FC236}">
                <a16:creationId xmlns:a16="http://schemas.microsoft.com/office/drawing/2014/main" id="{7044A7A2-EF75-917A-59B3-2D6468CE333E}"/>
              </a:ext>
            </a:extLst>
          </p:cNvPr>
          <p:cNvCxnSpPr>
            <a:cxnSpLocks/>
            <a:stCxn id="6" idx="3"/>
            <a:endCxn id="41" idx="1"/>
          </p:cNvCxnSpPr>
          <p:nvPr/>
        </p:nvCxnSpPr>
        <p:spPr>
          <a:xfrm>
            <a:off x="6969224" y="3430116"/>
            <a:ext cx="385250" cy="1431229"/>
          </a:xfrm>
          <a:prstGeom prst="bentConnector3">
            <a:avLst>
              <a:gd name="adj1" fmla="val 50000"/>
            </a:avLst>
          </a:prstGeom>
          <a:ln w="25400"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Verbinder: gewinkelt 50">
            <a:extLst>
              <a:ext uri="{FF2B5EF4-FFF2-40B4-BE49-F238E27FC236}">
                <a16:creationId xmlns:a16="http://schemas.microsoft.com/office/drawing/2014/main" id="{435E805E-4AF7-9B8B-5848-ACB1EEB41C93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>
            <a:off x="6969224" y="3430116"/>
            <a:ext cx="404722" cy="2134815"/>
          </a:xfrm>
          <a:prstGeom prst="bentConnector3">
            <a:avLst>
              <a:gd name="adj1" fmla="val 50000"/>
            </a:avLst>
          </a:prstGeom>
          <a:ln w="25400"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Verbinder: gewinkelt 53">
            <a:extLst>
              <a:ext uri="{FF2B5EF4-FFF2-40B4-BE49-F238E27FC236}">
                <a16:creationId xmlns:a16="http://schemas.microsoft.com/office/drawing/2014/main" id="{CFB6B01A-9631-F1BE-9D92-8D4228EEC214}"/>
              </a:ext>
            </a:extLst>
          </p:cNvPr>
          <p:cNvCxnSpPr>
            <a:cxnSpLocks/>
            <a:stCxn id="6" idx="3"/>
            <a:endCxn id="40" idx="1"/>
          </p:cNvCxnSpPr>
          <p:nvPr/>
        </p:nvCxnSpPr>
        <p:spPr>
          <a:xfrm>
            <a:off x="6969224" y="3430116"/>
            <a:ext cx="404722" cy="2628292"/>
          </a:xfrm>
          <a:prstGeom prst="bentConnector3">
            <a:avLst>
              <a:gd name="adj1" fmla="val 50000"/>
            </a:avLst>
          </a:prstGeom>
          <a:ln w="25400"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>
            <a:extLst>
              <a:ext uri="{FF2B5EF4-FFF2-40B4-BE49-F238E27FC236}">
                <a16:creationId xmlns:a16="http://schemas.microsoft.com/office/drawing/2014/main" id="{75B18F28-DFB7-1997-9AA8-14BEE951A000}"/>
              </a:ext>
            </a:extLst>
          </p:cNvPr>
          <p:cNvSpPr txBox="1"/>
          <p:nvPr/>
        </p:nvSpPr>
        <p:spPr>
          <a:xfrm>
            <a:off x="7694395" y="4150196"/>
            <a:ext cx="184185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/,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weekly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4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1400" dirty="0">
                <a:latin typeface="Arial" panose="020B0604020202020204" pitchFamily="34" charset="0"/>
                <a:cs typeface="Arial" panose="020B0604020202020204" pitchFamily="34" charset="0"/>
              </a:rPr>
              <a:t> pull</a:t>
            </a:r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C05166BD-ABAE-5E57-832C-36C1DA46962E}"/>
              </a:ext>
            </a:extLst>
          </p:cNvPr>
          <p:cNvSpPr txBox="1"/>
          <p:nvPr/>
        </p:nvSpPr>
        <p:spPr>
          <a:xfrm>
            <a:off x="4964348" y="2279149"/>
            <a:ext cx="40716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pulled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531031E1-B893-A53C-0D84-DEF1B194E314}"/>
              </a:ext>
            </a:extLst>
          </p:cNvPr>
          <p:cNvSpPr txBox="1"/>
          <p:nvPr/>
        </p:nvSpPr>
        <p:spPr>
          <a:xfrm>
            <a:off x="4953713" y="3492832"/>
            <a:ext cx="5033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pushed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E285C72B-2E8B-F61E-55F6-19B0882FDB92}"/>
              </a:ext>
            </a:extLst>
          </p:cNvPr>
          <p:cNvSpPr txBox="1"/>
          <p:nvPr/>
        </p:nvSpPr>
        <p:spPr>
          <a:xfrm>
            <a:off x="3512840" y="3358108"/>
            <a:ext cx="1440160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version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history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Auto deploy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Backup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Vulnerability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scan</a:t>
            </a: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lussdiagramm: Anzeige 2">
            <a:extLst>
              <a:ext uri="{FF2B5EF4-FFF2-40B4-BE49-F238E27FC236}">
                <a16:creationId xmlns:a16="http://schemas.microsoft.com/office/drawing/2014/main" id="{40211A0D-9DCE-18CE-89BA-EBE688513A02}"/>
              </a:ext>
            </a:extLst>
          </p:cNvPr>
          <p:cNvSpPr/>
          <p:nvPr/>
        </p:nvSpPr>
        <p:spPr>
          <a:xfrm>
            <a:off x="6969224" y="1053162"/>
            <a:ext cx="936104" cy="684075"/>
          </a:xfrm>
          <a:prstGeom prst="flowChartDisplay">
            <a:avLst/>
          </a:prstGeom>
          <a:noFill/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lussdiagramm: Anzeige 9">
            <a:extLst>
              <a:ext uri="{FF2B5EF4-FFF2-40B4-BE49-F238E27FC236}">
                <a16:creationId xmlns:a16="http://schemas.microsoft.com/office/drawing/2014/main" id="{B5231C3A-9128-BD35-670D-DAB96A5AF82C}"/>
              </a:ext>
            </a:extLst>
          </p:cNvPr>
          <p:cNvSpPr/>
          <p:nvPr/>
        </p:nvSpPr>
        <p:spPr>
          <a:xfrm>
            <a:off x="8013005" y="1557908"/>
            <a:ext cx="936104" cy="684075"/>
          </a:xfrm>
          <a:prstGeom prst="flowChartDisplay">
            <a:avLst/>
          </a:prstGeom>
          <a:noFill/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</a:t>
            </a:r>
            <a:b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Alarm</a:t>
            </a:r>
          </a:p>
        </p:txBody>
      </p:sp>
      <p:cxnSp>
        <p:nvCxnSpPr>
          <p:cNvPr id="12" name="Verbinder: gewinkelt 11">
            <a:extLst>
              <a:ext uri="{FF2B5EF4-FFF2-40B4-BE49-F238E27FC236}">
                <a16:creationId xmlns:a16="http://schemas.microsoft.com/office/drawing/2014/main" id="{47B39FB2-72D4-932A-8352-B11B2B70FB65}"/>
              </a:ext>
            </a:extLst>
          </p:cNvPr>
          <p:cNvCxnSpPr>
            <a:cxnSpLocks/>
            <a:stCxn id="3" idx="1"/>
            <a:endCxn id="6" idx="0"/>
          </p:cNvCxnSpPr>
          <p:nvPr/>
        </p:nvCxnSpPr>
        <p:spPr>
          <a:xfrm rot="10800000" flipV="1">
            <a:off x="6285148" y="1395200"/>
            <a:ext cx="684076" cy="1170820"/>
          </a:xfrm>
          <a:prstGeom prst="bent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erbinder: gewinkelt 15">
            <a:extLst>
              <a:ext uri="{FF2B5EF4-FFF2-40B4-BE49-F238E27FC236}">
                <a16:creationId xmlns:a16="http://schemas.microsoft.com/office/drawing/2014/main" id="{E92989F5-5050-EF6E-116C-0919382CB3AB}"/>
              </a:ext>
            </a:extLst>
          </p:cNvPr>
          <p:cNvCxnSpPr>
            <a:cxnSpLocks/>
            <a:stCxn id="10" idx="1"/>
            <a:endCxn id="6" idx="0"/>
          </p:cNvCxnSpPr>
          <p:nvPr/>
        </p:nvCxnSpPr>
        <p:spPr>
          <a:xfrm rot="10800000" flipV="1">
            <a:off x="6285149" y="1899946"/>
            <a:ext cx="1727857" cy="666074"/>
          </a:xfrm>
          <a:prstGeom prst="curvedConnector2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10E95C9-2373-D0A0-7686-A737FBED9387}"/>
              </a:ext>
            </a:extLst>
          </p:cNvPr>
          <p:cNvSpPr/>
          <p:nvPr/>
        </p:nvSpPr>
        <p:spPr>
          <a:xfrm>
            <a:off x="704528" y="4797152"/>
            <a:ext cx="2016224" cy="216024"/>
          </a:xfrm>
          <a:prstGeom prst="roundRect">
            <a:avLst/>
          </a:prstGeom>
          <a:noFill/>
          <a:ln w="28575">
            <a:solidFill>
              <a:srgbClr val="527DA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ECB </a:t>
            </a:r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council</a:t>
            </a:r>
            <a:r>
              <a:rPr lang="de-DE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updates</a:t>
            </a:r>
            <a:endParaRPr lang="de-DE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" name="Verbinder: gewinkelt 16" descr="Student assistant updates Excel file">
            <a:extLst>
              <a:ext uri="{FF2B5EF4-FFF2-40B4-BE49-F238E27FC236}">
                <a16:creationId xmlns:a16="http://schemas.microsoft.com/office/drawing/2014/main" id="{C8733E90-2C5F-6ED5-86DF-89D3B6C28EF0}"/>
              </a:ext>
            </a:extLst>
          </p:cNvPr>
          <p:cNvCxnSpPr>
            <a:cxnSpLocks/>
            <a:stCxn id="15" idx="3"/>
            <a:endCxn id="2" idx="1"/>
          </p:cNvCxnSpPr>
          <p:nvPr/>
        </p:nvCxnSpPr>
        <p:spPr>
          <a:xfrm flipV="1">
            <a:off x="2720752" y="2890056"/>
            <a:ext cx="792088" cy="2015108"/>
          </a:xfrm>
          <a:prstGeom prst="bentConnector3">
            <a:avLst>
              <a:gd name="adj1" fmla="val 50000"/>
            </a:avLst>
          </a:prstGeom>
          <a:ln w="25400"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525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DC971-BE6E-6BE2-5394-2EDBD31C2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ussdiagramm: Manuelle Verarbeitung 34">
            <a:extLst>
              <a:ext uri="{FF2B5EF4-FFF2-40B4-BE49-F238E27FC236}">
                <a16:creationId xmlns:a16="http://schemas.microsoft.com/office/drawing/2014/main" id="{E2386A96-FB57-FC9F-D60A-F523B6B1A741}"/>
              </a:ext>
            </a:extLst>
          </p:cNvPr>
          <p:cNvSpPr/>
          <p:nvPr/>
        </p:nvSpPr>
        <p:spPr>
          <a:xfrm flipV="1">
            <a:off x="714713" y="1412776"/>
            <a:ext cx="8690657" cy="5112560"/>
          </a:xfrm>
          <a:prstGeom prst="flowChartManualOperation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426476D-53B6-A7B4-9533-BA5B99D70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413" y="763588"/>
            <a:ext cx="9272587" cy="601010"/>
          </a:xfrm>
        </p:spPr>
        <p:txBody>
          <a:bodyPr/>
          <a:lstStyle/>
          <a:p>
            <a:r>
              <a:rPr lang="en-GB" noProof="0" dirty="0"/>
              <a:t>IT System - Underbelly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3AEA5551-B689-F208-69F2-96C7EC08EF02}"/>
              </a:ext>
            </a:extLst>
          </p:cNvPr>
          <p:cNvSpPr/>
          <p:nvPr/>
        </p:nvSpPr>
        <p:spPr>
          <a:xfrm>
            <a:off x="4428823" y="1632643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pages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DE9C637D-030D-3E12-A343-91CC9C8C8E1C}"/>
              </a:ext>
            </a:extLst>
          </p:cNvPr>
          <p:cNvSpPr/>
          <p:nvPr/>
        </p:nvSpPr>
        <p:spPr>
          <a:xfrm>
            <a:off x="2147400" y="5728386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Linux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ssh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1C7C33B3-BB5C-DB07-EEDF-6334EEB4FBCB}"/>
              </a:ext>
            </a:extLst>
          </p:cNvPr>
          <p:cNvSpPr/>
          <p:nvPr/>
        </p:nvSpPr>
        <p:spPr>
          <a:xfrm>
            <a:off x="6577212" y="5749139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sec-headers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C3238BE-31CB-A552-0EEE-C87318D1AF17}"/>
              </a:ext>
            </a:extLst>
          </p:cNvPr>
          <p:cNvSpPr/>
          <p:nvPr/>
        </p:nvSpPr>
        <p:spPr>
          <a:xfrm>
            <a:off x="8041475" y="5749826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Webserver + DNS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3D489556-CB43-5166-2DF0-ABCFEE2C0AB5}"/>
              </a:ext>
            </a:extLst>
          </p:cNvPr>
          <p:cNvSpPr/>
          <p:nvPr/>
        </p:nvSpPr>
        <p:spPr>
          <a:xfrm>
            <a:off x="2171365" y="4997426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Statistics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95FC00B-A235-F77F-C879-C11DC0135BDE}"/>
              </a:ext>
            </a:extLst>
          </p:cNvPr>
          <p:cNvSpPr/>
          <p:nvPr/>
        </p:nvSpPr>
        <p:spPr>
          <a:xfrm>
            <a:off x="6590317" y="2676102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w.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zew.de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D59DE65-AC14-90B9-5418-1659A6595F93}"/>
              </a:ext>
            </a:extLst>
          </p:cNvPr>
          <p:cNvSpPr/>
          <p:nvPr/>
        </p:nvSpPr>
        <p:spPr>
          <a:xfrm>
            <a:off x="5133705" y="2660937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Mobile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A9E11685-0E5C-E74E-EC51-458F80FCC137}"/>
              </a:ext>
            </a:extLst>
          </p:cNvPr>
          <p:cNvSpPr/>
          <p:nvPr/>
        </p:nvSpPr>
        <p:spPr>
          <a:xfrm>
            <a:off x="8023287" y="3474145"/>
            <a:ext cx="1296144" cy="576064"/>
          </a:xfrm>
          <a:prstGeom prst="round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geoJson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transforms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4BD95DD-0D76-E7C7-5FF1-45B611C349E0}"/>
              </a:ext>
            </a:extLst>
          </p:cNvPr>
          <p:cNvSpPr/>
          <p:nvPr/>
        </p:nvSpPr>
        <p:spPr>
          <a:xfrm>
            <a:off x="2172557" y="4235748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i18n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HTML and JS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092A960B-167A-F048-C0D7-63F1772A742E}"/>
              </a:ext>
            </a:extLst>
          </p:cNvPr>
          <p:cNvSpPr/>
          <p:nvPr/>
        </p:nvSpPr>
        <p:spPr>
          <a:xfrm>
            <a:off x="682736" y="4235748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Router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tpl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renderer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AFD62CFD-8C48-A78D-0598-A5C992322639}"/>
              </a:ext>
            </a:extLst>
          </p:cNvPr>
          <p:cNvSpPr/>
          <p:nvPr/>
        </p:nvSpPr>
        <p:spPr>
          <a:xfrm>
            <a:off x="739804" y="3442396"/>
            <a:ext cx="1296144" cy="576064"/>
          </a:xfrm>
          <a:prstGeom prst="round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async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7D89C7E2-68BB-F85F-E4BB-3022CA21D7E5}"/>
              </a:ext>
            </a:extLst>
          </p:cNvPr>
          <p:cNvSpPr/>
          <p:nvPr/>
        </p:nvSpPr>
        <p:spPr>
          <a:xfrm>
            <a:off x="6598999" y="4270462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JS, CSS, </a:t>
            </a:r>
            <a:r>
              <a:rPr lang="de-DE" sz="1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Imgs</a:t>
            </a:r>
            <a:r>
              <a:rPr lang="de-DE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Caching</a:t>
            </a:r>
            <a:endParaRPr lang="de-D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63247E3-217F-BA20-D324-221F9D0A4205}"/>
              </a:ext>
            </a:extLst>
          </p:cNvPr>
          <p:cNvSpPr/>
          <p:nvPr/>
        </p:nvSpPr>
        <p:spPr>
          <a:xfrm>
            <a:off x="5097978" y="5007215"/>
            <a:ext cx="1296144" cy="576064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Crawl &amp;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D1AD7A61-E3CB-6575-393E-040DFA9A1D17}"/>
              </a:ext>
            </a:extLst>
          </p:cNvPr>
          <p:cNvSpPr/>
          <p:nvPr/>
        </p:nvSpPr>
        <p:spPr>
          <a:xfrm>
            <a:off x="696076" y="5007215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deploy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bidirect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D0248910-17FB-4E48-C223-AEBDFC40FA2B}"/>
              </a:ext>
            </a:extLst>
          </p:cNvPr>
          <p:cNvSpPr/>
          <p:nvPr/>
        </p:nvSpPr>
        <p:spPr>
          <a:xfrm>
            <a:off x="5097978" y="4270462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5D9D929-83E7-8C59-9CD6-08D7644687D3}"/>
              </a:ext>
            </a:extLst>
          </p:cNvPr>
          <p:cNvSpPr/>
          <p:nvPr/>
        </p:nvSpPr>
        <p:spPr>
          <a:xfrm>
            <a:off x="3662724" y="4997426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server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4F0A26C6-9887-D932-3DB5-71917C84DB80}"/>
              </a:ext>
            </a:extLst>
          </p:cNvPr>
          <p:cNvSpPr/>
          <p:nvPr/>
        </p:nvSpPr>
        <p:spPr>
          <a:xfrm>
            <a:off x="5097978" y="5732290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ACL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B3B653BE-9305-D119-9192-67BA34110736}"/>
              </a:ext>
            </a:extLst>
          </p:cNvPr>
          <p:cNvSpPr/>
          <p:nvPr/>
        </p:nvSpPr>
        <p:spPr>
          <a:xfrm>
            <a:off x="3622689" y="5732290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patches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3194E091-7CDE-BB9C-6816-A3D94CADF0C2}"/>
              </a:ext>
            </a:extLst>
          </p:cNvPr>
          <p:cNvSpPr/>
          <p:nvPr/>
        </p:nvSpPr>
        <p:spPr>
          <a:xfrm>
            <a:off x="3656856" y="4256082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Blog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markdown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100FBD3E-452A-3E39-D8E4-0FEE62C76028}"/>
              </a:ext>
            </a:extLst>
          </p:cNvPr>
          <p:cNvSpPr/>
          <p:nvPr/>
        </p:nvSpPr>
        <p:spPr>
          <a:xfrm>
            <a:off x="686844" y="5728386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1B5C7ACD-2DC2-C78A-8E39-F62BD1EE7E15}"/>
              </a:ext>
            </a:extLst>
          </p:cNvPr>
          <p:cNvSpPr/>
          <p:nvPr/>
        </p:nvSpPr>
        <p:spPr>
          <a:xfrm>
            <a:off x="8029364" y="5007215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cron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extension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B840F395-ABAB-7A30-A0CA-798CFB77124E}"/>
              </a:ext>
            </a:extLst>
          </p:cNvPr>
          <p:cNvSpPr/>
          <p:nvPr/>
        </p:nvSpPr>
        <p:spPr>
          <a:xfrm>
            <a:off x="2206314" y="3442396"/>
            <a:ext cx="1296144" cy="576064"/>
          </a:xfrm>
          <a:prstGeom prst="round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update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70D6A95-7969-F45F-8E86-FC999C09F2D9}"/>
              </a:ext>
            </a:extLst>
          </p:cNvPr>
          <p:cNvSpPr/>
          <p:nvPr/>
        </p:nvSpPr>
        <p:spPr>
          <a:xfrm>
            <a:off x="2932371" y="1635729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visible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9BBB60EB-A5BB-E39E-2C18-A79A4E45934D}"/>
              </a:ext>
            </a:extLst>
          </p:cNvPr>
          <p:cNvSpPr/>
          <p:nvPr/>
        </p:nvSpPr>
        <p:spPr>
          <a:xfrm>
            <a:off x="5925275" y="1632643"/>
            <a:ext cx="1296144" cy="576064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few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loops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FE35D4B2-35CF-C854-555D-638E3BFB2072}"/>
              </a:ext>
            </a:extLst>
          </p:cNvPr>
          <p:cNvSpPr/>
          <p:nvPr/>
        </p:nvSpPr>
        <p:spPr>
          <a:xfrm>
            <a:off x="3677252" y="2672806"/>
            <a:ext cx="1296144" cy="576064"/>
          </a:xfrm>
          <a:custGeom>
            <a:avLst/>
            <a:gdLst>
              <a:gd name="csX0" fmla="*/ 0 w 1296144"/>
              <a:gd name="csY0" fmla="*/ 96013 h 576064"/>
              <a:gd name="csX1" fmla="*/ 96013 w 1296144"/>
              <a:gd name="csY1" fmla="*/ 0 h 576064"/>
              <a:gd name="csX2" fmla="*/ 659113 w 1296144"/>
              <a:gd name="csY2" fmla="*/ 0 h 576064"/>
              <a:gd name="csX3" fmla="*/ 1200131 w 1296144"/>
              <a:gd name="csY3" fmla="*/ 0 h 576064"/>
              <a:gd name="csX4" fmla="*/ 1296144 w 1296144"/>
              <a:gd name="csY4" fmla="*/ 96013 h 576064"/>
              <a:gd name="csX5" fmla="*/ 1296144 w 1296144"/>
              <a:gd name="csY5" fmla="*/ 480051 h 576064"/>
              <a:gd name="csX6" fmla="*/ 1200131 w 1296144"/>
              <a:gd name="csY6" fmla="*/ 576064 h 576064"/>
              <a:gd name="csX7" fmla="*/ 648072 w 1296144"/>
              <a:gd name="csY7" fmla="*/ 576064 h 576064"/>
              <a:gd name="csX8" fmla="*/ 96013 w 1296144"/>
              <a:gd name="csY8" fmla="*/ 576064 h 576064"/>
              <a:gd name="csX9" fmla="*/ 0 w 1296144"/>
              <a:gd name="csY9" fmla="*/ 480051 h 576064"/>
              <a:gd name="csX10" fmla="*/ 0 w 1296144"/>
              <a:gd name="csY10" fmla="*/ 96013 h 5760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96144" h="576064" fill="none" extrusionOk="0">
                <a:moveTo>
                  <a:pt x="0" y="96013"/>
                </a:moveTo>
                <a:cubicBezTo>
                  <a:pt x="2396" y="52775"/>
                  <a:pt x="40171" y="2310"/>
                  <a:pt x="96013" y="0"/>
                </a:cubicBezTo>
                <a:cubicBezTo>
                  <a:pt x="244468" y="-52652"/>
                  <a:pt x="464726" y="64118"/>
                  <a:pt x="659113" y="0"/>
                </a:cubicBezTo>
                <a:cubicBezTo>
                  <a:pt x="853500" y="-64118"/>
                  <a:pt x="1019101" y="56389"/>
                  <a:pt x="1200131" y="0"/>
                </a:cubicBezTo>
                <a:cubicBezTo>
                  <a:pt x="1248660" y="290"/>
                  <a:pt x="1294103" y="53444"/>
                  <a:pt x="1296144" y="96013"/>
                </a:cubicBezTo>
                <a:cubicBezTo>
                  <a:pt x="1301752" y="190296"/>
                  <a:pt x="1278886" y="366026"/>
                  <a:pt x="1296144" y="480051"/>
                </a:cubicBezTo>
                <a:cubicBezTo>
                  <a:pt x="1295952" y="546284"/>
                  <a:pt x="1248746" y="582366"/>
                  <a:pt x="1200131" y="576064"/>
                </a:cubicBezTo>
                <a:cubicBezTo>
                  <a:pt x="1074195" y="591456"/>
                  <a:pt x="899015" y="571452"/>
                  <a:pt x="648072" y="576064"/>
                </a:cubicBezTo>
                <a:cubicBezTo>
                  <a:pt x="397129" y="580676"/>
                  <a:pt x="285546" y="516528"/>
                  <a:pt x="96013" y="576064"/>
                </a:cubicBezTo>
                <a:cubicBezTo>
                  <a:pt x="42812" y="574310"/>
                  <a:pt x="12704" y="530481"/>
                  <a:pt x="0" y="480051"/>
                </a:cubicBezTo>
                <a:cubicBezTo>
                  <a:pt x="-24223" y="293371"/>
                  <a:pt x="5945" y="199432"/>
                  <a:pt x="0" y="96013"/>
                </a:cubicBezTo>
                <a:close/>
              </a:path>
              <a:path w="1296144" h="576064" stroke="0" extrusionOk="0">
                <a:moveTo>
                  <a:pt x="0" y="96013"/>
                </a:moveTo>
                <a:cubicBezTo>
                  <a:pt x="-8446" y="40181"/>
                  <a:pt x="45876" y="8321"/>
                  <a:pt x="96013" y="0"/>
                </a:cubicBezTo>
                <a:cubicBezTo>
                  <a:pt x="238399" y="-61986"/>
                  <a:pt x="453589" y="43565"/>
                  <a:pt x="637031" y="0"/>
                </a:cubicBezTo>
                <a:cubicBezTo>
                  <a:pt x="820473" y="-43565"/>
                  <a:pt x="963372" y="25424"/>
                  <a:pt x="1200131" y="0"/>
                </a:cubicBezTo>
                <a:cubicBezTo>
                  <a:pt x="1250845" y="4212"/>
                  <a:pt x="1295395" y="41331"/>
                  <a:pt x="1296144" y="96013"/>
                </a:cubicBezTo>
                <a:cubicBezTo>
                  <a:pt x="1302709" y="262061"/>
                  <a:pt x="1271189" y="339936"/>
                  <a:pt x="1296144" y="480051"/>
                </a:cubicBezTo>
                <a:cubicBezTo>
                  <a:pt x="1288440" y="529044"/>
                  <a:pt x="1249367" y="579050"/>
                  <a:pt x="1200131" y="576064"/>
                </a:cubicBezTo>
                <a:cubicBezTo>
                  <a:pt x="947367" y="617008"/>
                  <a:pt x="906331" y="560047"/>
                  <a:pt x="681196" y="576064"/>
                </a:cubicBezTo>
                <a:cubicBezTo>
                  <a:pt x="456062" y="592081"/>
                  <a:pt x="227245" y="509072"/>
                  <a:pt x="96013" y="576064"/>
                </a:cubicBezTo>
                <a:cubicBezTo>
                  <a:pt x="39003" y="570946"/>
                  <a:pt x="-5891" y="534736"/>
                  <a:pt x="0" y="480051"/>
                </a:cubicBezTo>
                <a:cubicBezTo>
                  <a:pt x="-409" y="351530"/>
                  <a:pt x="13914" y="222183"/>
                  <a:pt x="0" y="96013"/>
                </a:cubicBezTo>
                <a:close/>
              </a:path>
            </a:pathLst>
          </a:custGeom>
          <a:ln w="76200">
            <a:solidFill>
              <a:schemeClr val="bg1">
                <a:lumMod val="85000"/>
              </a:schemeClr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3896661861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strike="sngStrike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Barrier</a:t>
            </a:r>
            <a:br>
              <a:rPr lang="de-DE" sz="1600" strike="sngStrike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strike="sngStrike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free</a:t>
            </a:r>
            <a:r>
              <a:rPr lang="de-DE" sz="1600" strike="sngStrike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strike="sngStrike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endParaRPr lang="de-DE" sz="1600" strike="sngStrike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D2FA104B-42E7-A131-1432-E73B48DDDEE8}"/>
              </a:ext>
            </a:extLst>
          </p:cNvPr>
          <p:cNvSpPr/>
          <p:nvPr/>
        </p:nvSpPr>
        <p:spPr>
          <a:xfrm>
            <a:off x="2207562" y="2669433"/>
            <a:ext cx="1296144" cy="576064"/>
          </a:xfrm>
          <a:prstGeom prst="round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styling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2632E240-708E-E8AD-88D5-05EB98D3254E}"/>
              </a:ext>
            </a:extLst>
          </p:cNvPr>
          <p:cNvSpPr/>
          <p:nvPr/>
        </p:nvSpPr>
        <p:spPr>
          <a:xfrm>
            <a:off x="3679019" y="3451193"/>
            <a:ext cx="1296144" cy="576064"/>
          </a:xfrm>
          <a:prstGeom prst="roundRect">
            <a:avLst/>
          </a:prstGeom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eCharts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lib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JS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87777E8D-2978-FB72-C0E9-F3A806B6484A}"/>
              </a:ext>
            </a:extLst>
          </p:cNvPr>
          <p:cNvSpPr/>
          <p:nvPr/>
        </p:nvSpPr>
        <p:spPr>
          <a:xfrm>
            <a:off x="8029364" y="4270462"/>
            <a:ext cx="1296144" cy="57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Sophos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threat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29A3760D-6DF8-28C4-781A-B44795555ADF}"/>
              </a:ext>
            </a:extLst>
          </p:cNvPr>
          <p:cNvCxnSpPr/>
          <p:nvPr/>
        </p:nvCxnSpPr>
        <p:spPr>
          <a:xfrm>
            <a:off x="633413" y="2420888"/>
            <a:ext cx="8771958" cy="0"/>
          </a:xfrm>
          <a:prstGeom prst="line">
            <a:avLst/>
          </a:prstGeom>
          <a:ln w="12700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8C2D1220-CBB1-E07A-E5B8-E2A49D379860}"/>
              </a:ext>
            </a:extLst>
          </p:cNvPr>
          <p:cNvSpPr/>
          <p:nvPr/>
        </p:nvSpPr>
        <p:spPr>
          <a:xfrm>
            <a:off x="6581839" y="4980786"/>
            <a:ext cx="1296144" cy="576064"/>
          </a:xfrm>
          <a:prstGeom prst="roundRect">
            <a:avLst/>
          </a:prstGeom>
          <a:solidFill>
            <a:schemeClr val="bg1"/>
          </a:solidFill>
          <a:ln w="762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JS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2E534B33-CCFE-4A34-891B-539AB43286C5}"/>
              </a:ext>
            </a:extLst>
          </p:cNvPr>
          <p:cNvSpPr/>
          <p:nvPr/>
        </p:nvSpPr>
        <p:spPr>
          <a:xfrm>
            <a:off x="5126294" y="3454896"/>
            <a:ext cx="1296144" cy="576064"/>
          </a:xfrm>
          <a:prstGeom prst="roundRect">
            <a:avLst/>
          </a:prstGeom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Graphics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B1EA6C6-A8D9-534C-451D-BFF988B9C567}"/>
              </a:ext>
            </a:extLst>
          </p:cNvPr>
          <p:cNvSpPr/>
          <p:nvPr/>
        </p:nvSpPr>
        <p:spPr>
          <a:xfrm>
            <a:off x="6590317" y="3469568"/>
            <a:ext cx="1296144" cy="576064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Coloring</a:t>
            </a:r>
            <a:b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5B6E46C9-56C8-F21E-1BA4-D5E4FEFC31A9}"/>
              </a:ext>
            </a:extLst>
          </p:cNvPr>
          <p:cNvSpPr txBox="1"/>
          <p:nvPr/>
        </p:nvSpPr>
        <p:spPr>
          <a:xfrm>
            <a:off x="9648497" y="4403834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de-DE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3537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ZEW Master">
  <a:themeElements>
    <a:clrScheme name="Benutzerdefiniert 2">
      <a:dk1>
        <a:srgbClr val="000000"/>
      </a:dk1>
      <a:lt1>
        <a:sysClr val="window" lastClr="FFFFFF"/>
      </a:lt1>
      <a:dk2>
        <a:srgbClr val="000000"/>
      </a:dk2>
      <a:lt2>
        <a:srgbClr val="505050"/>
      </a:lt2>
      <a:accent1>
        <a:srgbClr val="B4BE28"/>
      </a:accent1>
      <a:accent2>
        <a:srgbClr val="527DA4"/>
      </a:accent2>
      <a:accent3>
        <a:srgbClr val="9C2424"/>
      </a:accent3>
      <a:accent4>
        <a:srgbClr val="C7A92F"/>
      </a:accent4>
      <a:accent5>
        <a:srgbClr val="958C47"/>
      </a:accent5>
      <a:accent6>
        <a:srgbClr val="F79646"/>
      </a:accent6>
      <a:hlink>
        <a:srgbClr val="527DA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372</Words>
  <Application>Microsoft Office PowerPoint</Application>
  <PresentationFormat>A4-Papier (210 x 297 mm)</PresentationFormat>
  <Paragraphs>77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Symbol</vt:lpstr>
      <vt:lpstr>Wingdings</vt:lpstr>
      <vt:lpstr>ZEW Master</vt:lpstr>
      <vt:lpstr>EZB Monitor – “hub”</vt:lpstr>
      <vt:lpstr>EZB Monitor – IT System</vt:lpstr>
      <vt:lpstr>EZB Monitor – Data Flow</vt:lpstr>
      <vt:lpstr>IT System - Underbelly</vt:lpstr>
    </vt:vector>
  </TitlesOfParts>
  <Manager>Dominik Rehse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Zentrum für Europäische  Wirtschaftsforschung GmbH (ZEW) Mannheim | Centre for European Economic Research</dc:title>
  <dc:creator>Dominik Rehse</dc:creator>
  <cp:lastModifiedBy>Buchmann, Peter</cp:lastModifiedBy>
  <cp:revision>1057</cp:revision>
  <cp:lastPrinted>2025-03-31T15:35:15Z</cp:lastPrinted>
  <dcterms:created xsi:type="dcterms:W3CDTF">2014-05-15T09:20:27Z</dcterms:created>
  <dcterms:modified xsi:type="dcterms:W3CDTF">2026-09-11T07:25:01Z</dcterms:modified>
</cp:coreProperties>
</file>