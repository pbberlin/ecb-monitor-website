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modernComment_57D_D2233FF2.xml" ContentType="application/vnd.ms-powerpoint.comments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1406" r:id="rId2"/>
    <p:sldId id="1404" r:id="rId3"/>
    <p:sldId id="1405" r:id="rId4"/>
    <p:sldId id="1407" r:id="rId5"/>
  </p:sldIdLst>
  <p:sldSz cx="9906000" cy="6858000" type="A4"/>
  <p:notesSz cx="6669088" cy="9926638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6" userDrawn="1">
          <p15:clr>
            <a:srgbClr val="A4A3A4"/>
          </p15:clr>
        </p15:guide>
        <p15:guide id="2" orient="horz" pos="754" userDrawn="1">
          <p15:clr>
            <a:srgbClr val="A4A3A4"/>
          </p15:clr>
        </p15:guide>
        <p15:guide id="3" orient="horz" pos="1207" userDrawn="1">
          <p15:clr>
            <a:srgbClr val="A4A3A4"/>
          </p15:clr>
        </p15:guide>
        <p15:guide id="4" orient="horz" pos="4110" userDrawn="1">
          <p15:clr>
            <a:srgbClr val="A4A3A4"/>
          </p15:clr>
        </p15:guide>
        <p15:guide id="5" orient="horz" pos="1706" userDrawn="1">
          <p15:clr>
            <a:srgbClr val="A4A3A4"/>
          </p15:clr>
        </p15:guide>
        <p15:guide id="6" pos="6068" userDrawn="1">
          <p15:clr>
            <a:srgbClr val="A4A3A4"/>
          </p15:clr>
        </p15:guide>
        <p15:guide id="7" pos="172" userDrawn="1">
          <p15:clr>
            <a:srgbClr val="A4A3A4"/>
          </p15:clr>
        </p15:guide>
        <p15:guide id="8" pos="407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89D656-8E02-B9F1-10F5-52BD840A97A1}" name="Buchmann, Peter" initials="PB" userId="S::Peter.Buchmann@zew.de::70843252-1989-4c43-9d59-ecbae435e47f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fam" initials="f" lastIdx="2" clrIdx="0"/>
  <p:cmAuthor id="1" name="Microsoft" initials="M" lastIdx="5" clrIdx="1"/>
  <p:cmAuthor id="2" name="Sarah-Esther Ciaglia" initials="SC" lastIdx="1" clrIdx="2">
    <p:extLst>
      <p:ext uri="{19B8F6BF-5375-455C-9EA6-DF929625EA0E}">
        <p15:presenceInfo xmlns:p15="http://schemas.microsoft.com/office/powerpoint/2012/main" userId="S-1-5-21-3463609259-212226432-2349557979-4741" providerId="AD"/>
      </p:ext>
    </p:extLst>
  </p:cmAuthor>
  <p:cmAuthor id="3" name="Friedrich Heinemann" initials="FHE" lastIdx="1" clrIdx="3">
    <p:extLst>
      <p:ext uri="{19B8F6BF-5375-455C-9EA6-DF929625EA0E}">
        <p15:presenceInfo xmlns:p15="http://schemas.microsoft.com/office/powerpoint/2012/main" userId="Friedrich Heinemann" providerId="None"/>
      </p:ext>
    </p:extLst>
  </p:cmAuthor>
  <p:cmAuthor id="4" name="Kemper, Jan" initials="KJ" lastIdx="1" clrIdx="4">
    <p:extLst>
      <p:ext uri="{19B8F6BF-5375-455C-9EA6-DF929625EA0E}">
        <p15:presenceInfo xmlns:p15="http://schemas.microsoft.com/office/powerpoint/2012/main" userId="S-1-5-21-3463609259-212226432-2349557979-830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27DA4"/>
    <a:srgbClr val="B4BE28"/>
    <a:srgbClr val="009900"/>
    <a:srgbClr val="9C2438"/>
    <a:srgbClr val="C7A92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73" autoAdjust="0"/>
    <p:restoredTop sz="86381" autoAdjust="0"/>
  </p:normalViewPr>
  <p:slideViewPr>
    <p:cSldViewPr snapToObjects="1">
      <p:cViewPr varScale="1">
        <p:scale>
          <a:sx n="75" d="100"/>
          <a:sy n="75" d="100"/>
        </p:scale>
        <p:origin x="58" y="216"/>
      </p:cViewPr>
      <p:guideLst>
        <p:guide orient="horz" pos="346"/>
        <p:guide orient="horz" pos="754"/>
        <p:guide orient="horz" pos="1207"/>
        <p:guide orient="horz" pos="4110"/>
        <p:guide orient="horz" pos="1706"/>
        <p:guide pos="6068"/>
        <p:guide pos="172"/>
        <p:guide pos="407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Objects="1">
      <p:cViewPr varScale="1">
        <p:scale>
          <a:sx n="68" d="100"/>
          <a:sy n="68" d="100"/>
        </p:scale>
        <p:origin x="3067" y="67"/>
      </p:cViewPr>
      <p:guideLst>
        <p:guide orient="horz" pos="3127"/>
        <p:guide pos="210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omments/modernComment_57D_D2233FF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59F071B-7079-40FD-ACA5-17DC33330683}" authorId="{D189D656-8E02-B9F1-10F5-52BD840A97A1}" created="2026-02-11T09:09:52.11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525525490" sldId="1405"/>
      <ac:cxnSpMk id="17" creationId="{C8733E90-2C5F-6ED5-86DF-89D3B6C28EF0}"/>
    </ac:deMkLst>
    <p188:txBody>
      <a:bodyPr/>
      <a:lstStyle/>
      <a:p>
        <a:r>
          <a:rPr lang="de-DE"/>
          <a:t>Student assistants updates Excel file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777608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r">
              <a:defRPr sz="1100"/>
            </a:lvl1pPr>
          </a:lstStyle>
          <a:p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1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777608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r">
              <a:defRPr sz="1100"/>
            </a:lvl1pPr>
          </a:lstStyle>
          <a:p>
            <a:fld id="{7F7E0C50-4D70-8F4B-B7EF-9539930839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6094582"/>
      </p:ext>
    </p:extLst>
  </p:cSld>
  <p:clrMap bg1="lt1" tx1="dk1" bg2="lt2" tx2="dk2" accent1="accent1" accent2="accent2" accent3="accent3" accent4="accent4" accent5="accent5" accent6="accent6" hlink="hlink" folHlink="folHlink"/>
  <p:hf sldNum="0"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777608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r">
              <a:defRPr sz="1100"/>
            </a:lvl1pPr>
          </a:lstStyle>
          <a:p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46113" y="744538"/>
            <a:ext cx="5376862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22" tIns="45361" rIns="90722" bIns="45361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66909" y="4715155"/>
            <a:ext cx="5335270" cy="4466987"/>
          </a:xfrm>
          <a:prstGeom prst="rect">
            <a:avLst/>
          </a:prstGeom>
        </p:spPr>
        <p:txBody>
          <a:bodyPr vert="horz" lIns="90722" tIns="45361" rIns="90722" bIns="45361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1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777608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r">
              <a:defRPr sz="1100"/>
            </a:lvl1pPr>
          </a:lstStyle>
          <a:p>
            <a:fld id="{CF1E3524-81C1-473B-AE0F-697B830EC5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98750302"/>
      </p:ext>
    </p:extLst>
  </p:cSld>
  <p:clrMap bg1="lt1" tx1="dk1" bg2="lt2" tx2="dk2" accent1="accent1" accent2="accent2" accent3="accent3" accent4="accent4" accent5="accent5" accent6="accent6" hlink="hlink" folHlink="folHlink"/>
  <p:hf sldNum="0"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16A2E-C513-859D-A92D-E4627EE47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4C4F9BC-157A-EA0B-5E07-0C72A32EDB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F5E9CD2-7A3E-C459-2671-8DCA9A7EFB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21E31A4-1998-5A69-A69D-EDDA867B660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856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91175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C9DAB-9B1C-A7B0-6B6E-B17CB8964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3F8A7FE-72ED-6A01-EDFC-AD82C47411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B1745D3-810A-0ABC-5FB2-EB74DA2A49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F4C330-D6C6-38EA-7054-A6C60EF2459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86270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869AD-0C6D-5AA8-0B82-B6777F9A0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68E1361-08D2-9739-99D5-9D17800AC5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80ECFA4-B0C6-5665-0683-BC298D23E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1FB0AA-C2CF-8469-F2EA-A4C254CA938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22352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J:\Wegweiser\Medien\ZEW_Logo\ZEW Logo Farbe\ZEW-Logo_ohne Schriftzug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5288" y="5877272"/>
            <a:ext cx="1320006" cy="446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I:\WW\Hiwis_und_Praktikanten\Konstantin\Musterpräsentation\LogoLeibniz_Farbe_RGB.jp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5014" y="5845075"/>
            <a:ext cx="876573" cy="593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800000" y="1080000"/>
            <a:ext cx="6833964" cy="1484904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/>
            </a:lvl1pPr>
          </a:lstStyle>
          <a:p>
            <a:pPr marL="0" marR="0" lvl="0" indent="0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tabLst/>
              <a:defRPr/>
            </a:pPr>
            <a:r>
              <a:rPr kumimoji="0" lang="de-DE" sz="4800" b="1" i="0" u="none" strike="noStrike" kern="1200" cap="all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Hier steht der Titel der Präsentation</a:t>
            </a:r>
            <a:endParaRPr kumimoji="0" lang="de-DE" sz="4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platzhalter 5"/>
          <p:cNvSpPr>
            <a:spLocks noGrp="1"/>
          </p:cNvSpPr>
          <p:nvPr>
            <p:ph type="body" sz="quarter" idx="12" hasCustomPrompt="1"/>
          </p:nvPr>
        </p:nvSpPr>
        <p:spPr>
          <a:xfrm>
            <a:off x="1800000" y="3735703"/>
            <a:ext cx="5903912" cy="363263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2000" b="0" i="0" u="none" strike="noStrike" kern="1200" cap="none" spc="0" normalizeH="0" baseline="0" noProof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Anlass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weiterer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Titel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3" name="Textplatzhalter 12"/>
          <p:cNvSpPr>
            <a:spLocks noGrp="1"/>
          </p:cNvSpPr>
          <p:nvPr>
            <p:ph type="body" sz="quarter" idx="13" hasCustomPrompt="1"/>
          </p:nvPr>
        </p:nvSpPr>
        <p:spPr>
          <a:xfrm>
            <a:off x="1800000" y="2679128"/>
            <a:ext cx="5905500" cy="360213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 kumimoji="0" lang="en-US" sz="20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 dirty="0"/>
              <a:t>Prof. Dr. XXX</a:t>
            </a:r>
          </a:p>
        </p:txBody>
      </p:sp>
      <p:sp>
        <p:nvSpPr>
          <p:cNvPr id="14" name="Textplatzhalter 12"/>
          <p:cNvSpPr>
            <a:spLocks noGrp="1"/>
          </p:cNvSpPr>
          <p:nvPr>
            <p:ph type="body" sz="quarter" idx="14" hasCustomPrompt="1"/>
          </p:nvPr>
        </p:nvSpPr>
        <p:spPr>
          <a:xfrm>
            <a:off x="1800000" y="3015623"/>
            <a:ext cx="5905500" cy="360213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 kumimoji="0" lang="en-US" sz="2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 dirty="0"/>
              <a:t>DD.MM.YYYY</a:t>
            </a:r>
          </a:p>
        </p:txBody>
      </p:sp>
    </p:spTree>
    <p:extLst>
      <p:ext uri="{BB962C8B-B14F-4D97-AF65-F5344CB8AC3E}">
        <p14:creationId xmlns:p14="http://schemas.microsoft.com/office/powerpoint/2010/main" val="2691835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zeiliger Titel, 1 Text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73050" y="620688"/>
            <a:ext cx="9359900" cy="548184"/>
          </a:xfrm>
          <a:prstGeom prst="rect">
            <a:avLst/>
          </a:prstGeom>
        </p:spPr>
        <p:txBody>
          <a:bodyPr lIns="90000" tIns="36000" rIns="90000" bIns="36000"/>
          <a:lstStyle>
            <a:lvl1pPr>
              <a:defRPr sz="2100" cap="none"/>
            </a:lvl1pPr>
          </a:lstStyle>
          <a:p>
            <a:endParaRPr lang="de-DE" dirty="0"/>
          </a:p>
        </p:txBody>
      </p:sp>
      <p:pic>
        <p:nvPicPr>
          <p:cNvPr id="6" name="Bild 5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9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466136" y="6551402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2771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72" userDrawn="1">
          <p15:clr>
            <a:srgbClr val="FBAE40"/>
          </p15:clr>
        </p15:guide>
        <p15:guide id="2" pos="606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zeiliger Titel, 1 Text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umsplatzhalter 3"/>
          <p:cNvSpPr>
            <a:spLocks noGrp="1"/>
          </p:cNvSpPr>
          <p:nvPr>
            <p:ph type="dt" sz="half" idx="2"/>
          </p:nvPr>
        </p:nvSpPr>
        <p:spPr>
          <a:xfrm>
            <a:off x="63360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9600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Titel 1"/>
          <p:cNvSpPr>
            <a:spLocks noGrp="1"/>
          </p:cNvSpPr>
          <p:nvPr>
            <p:ph type="title" hasCustomPrompt="1"/>
          </p:nvPr>
        </p:nvSpPr>
        <p:spPr>
          <a:xfrm>
            <a:off x="633413" y="763588"/>
            <a:ext cx="8639175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15" name="Inhaltsplatzhalter 9"/>
          <p:cNvSpPr>
            <a:spLocks noGrp="1"/>
          </p:cNvSpPr>
          <p:nvPr>
            <p:ph sz="quarter" idx="10"/>
          </p:nvPr>
        </p:nvSpPr>
        <p:spPr>
          <a:xfrm>
            <a:off x="633600" y="1917700"/>
            <a:ext cx="8639175" cy="43926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90000"/>
              </a:lnSpc>
              <a:buNone/>
              <a:defRPr/>
            </a:lvl1pPr>
          </a:lstStyle>
          <a:p>
            <a:pPr lvl="0"/>
            <a:endParaRPr lang="de-DE" dirty="0"/>
          </a:p>
        </p:txBody>
      </p:sp>
      <p:pic>
        <p:nvPicPr>
          <p:cNvPr id="16" name="Bild 15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9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zeiliger Titel, 2 Spalte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el 1"/>
          <p:cNvSpPr>
            <a:spLocks noGrp="1"/>
          </p:cNvSpPr>
          <p:nvPr>
            <p:ph type="title"/>
          </p:nvPr>
        </p:nvSpPr>
        <p:spPr>
          <a:xfrm>
            <a:off x="632520" y="764704"/>
            <a:ext cx="8640068" cy="5493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9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19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1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1211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sz="quarter" idx="10"/>
          </p:nvPr>
        </p:nvSpPr>
        <p:spPr>
          <a:xfrm>
            <a:off x="633600" y="1485901"/>
            <a:ext cx="4089275" cy="4824412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  <p:pic>
        <p:nvPicPr>
          <p:cNvPr id="13" name="Bild 12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9" name="Inhaltsplatzhalter 2"/>
          <p:cNvSpPr>
            <a:spLocks noGrp="1"/>
          </p:cNvSpPr>
          <p:nvPr>
            <p:ph sz="quarter" idx="11"/>
          </p:nvPr>
        </p:nvSpPr>
        <p:spPr>
          <a:xfrm>
            <a:off x="5173245" y="1485901"/>
            <a:ext cx="4089275" cy="4824412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70390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zeiliger Titel, 2 Spalte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3003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23" name="Titel 1"/>
          <p:cNvSpPr>
            <a:spLocks noGrp="1"/>
          </p:cNvSpPr>
          <p:nvPr>
            <p:ph type="title" hasCustomPrompt="1"/>
          </p:nvPr>
        </p:nvSpPr>
        <p:spPr>
          <a:xfrm>
            <a:off x="632573" y="763588"/>
            <a:ext cx="8640907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9" name="Bild 8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10" name="Inhaltsplatzhalter 2"/>
          <p:cNvSpPr>
            <a:spLocks noGrp="1"/>
          </p:cNvSpPr>
          <p:nvPr>
            <p:ph sz="quarter" idx="10"/>
          </p:nvPr>
        </p:nvSpPr>
        <p:spPr>
          <a:xfrm>
            <a:off x="633600" y="1917700"/>
            <a:ext cx="4089275" cy="43926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1" name="Inhaltsplatzhalter 2"/>
          <p:cNvSpPr>
            <a:spLocks noGrp="1"/>
          </p:cNvSpPr>
          <p:nvPr>
            <p:ph sz="quarter" idx="11"/>
          </p:nvPr>
        </p:nvSpPr>
        <p:spPr>
          <a:xfrm>
            <a:off x="5182041" y="1917700"/>
            <a:ext cx="4089275" cy="43926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82116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zeiliger Titel, Aufzäh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2"/>
          <p:cNvSpPr>
            <a:spLocks noGrp="1"/>
          </p:cNvSpPr>
          <p:nvPr>
            <p:ph idx="13"/>
          </p:nvPr>
        </p:nvSpPr>
        <p:spPr>
          <a:xfrm>
            <a:off x="633600" y="1917700"/>
            <a:ext cx="8638988" cy="439261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  <a:defRPr b="0" i="0"/>
            </a:lvl1pPr>
            <a:lvl2pPr marL="342000" indent="0">
              <a:lnSpc>
                <a:spcPts val="2000"/>
              </a:lnSpc>
              <a:spcBef>
                <a:spcPts val="100"/>
              </a:spcBef>
              <a:buFontTx/>
              <a:buNone/>
              <a:defRPr/>
            </a:lvl2pPr>
            <a:lvl3pPr marL="180000" indent="0">
              <a:buFontTx/>
              <a:buNone/>
              <a:defRPr/>
            </a:lvl3pPr>
          </a:lstStyle>
          <a:p>
            <a:pPr lvl="0"/>
            <a:endParaRPr lang="de-DE" dirty="0"/>
          </a:p>
        </p:txBody>
      </p:sp>
      <p:sp>
        <p:nvSpPr>
          <p:cNvPr id="9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625211" y="763588"/>
            <a:ext cx="8623717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13" name="Bild 12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69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Gliederungseben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633413" y="1917701"/>
            <a:ext cx="8639175" cy="4392612"/>
          </a:xfrm>
          <a:prstGeom prst="rect">
            <a:avLst/>
          </a:prstGeom>
        </p:spPr>
        <p:txBody>
          <a:bodyPr lIns="0" tIns="0" rIns="0" bIns="0"/>
          <a:lstStyle>
            <a:lvl1pPr>
              <a:defRPr lang="de-DE" b="0" i="0" dirty="0" smtClean="0"/>
            </a:lvl1pPr>
          </a:lstStyle>
          <a:p>
            <a:pPr marL="0" lv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</a:pPr>
            <a:endParaRPr lang="de-DE" dirty="0"/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"/>
          <p:cNvSpPr>
            <a:spLocks noGrp="1"/>
          </p:cNvSpPr>
          <p:nvPr>
            <p:ph type="title" hasCustomPrompt="1"/>
          </p:nvPr>
        </p:nvSpPr>
        <p:spPr>
          <a:xfrm>
            <a:off x="625024" y="759417"/>
            <a:ext cx="8639175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8" name="Bild 7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8375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liederungseben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5" name="Titel 1"/>
          <p:cNvSpPr>
            <a:spLocks noGrp="1"/>
          </p:cNvSpPr>
          <p:nvPr>
            <p:ph type="title" hasCustomPrompt="1"/>
          </p:nvPr>
        </p:nvSpPr>
        <p:spPr>
          <a:xfrm>
            <a:off x="625024" y="763588"/>
            <a:ext cx="8639175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8" name="Bild 7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4" name="Inhaltsplatzhalter 3"/>
          <p:cNvSpPr>
            <a:spLocks noGrp="1"/>
          </p:cNvSpPr>
          <p:nvPr>
            <p:ph sz="quarter" idx="10"/>
          </p:nvPr>
        </p:nvSpPr>
        <p:spPr>
          <a:xfrm>
            <a:off x="633414" y="1917701"/>
            <a:ext cx="8639174" cy="4392612"/>
          </a:xfrm>
          <a:prstGeom prst="rect">
            <a:avLst/>
          </a:prstGeom>
        </p:spPr>
        <p:txBody>
          <a:bodyPr lIns="0" tIns="0" rIns="0" bIns="0"/>
          <a:lstStyle>
            <a:lvl1pPr>
              <a:defRPr lang="de-DE" b="0" i="0" dirty="0"/>
            </a:lvl1pPr>
          </a:lstStyle>
          <a:p>
            <a:pPr marL="0" lv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4692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Spalten Text mit Li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atumsplatzhalter 3"/>
          <p:cNvSpPr>
            <a:spLocks noGrp="1"/>
          </p:cNvSpPr>
          <p:nvPr>
            <p:ph type="dt" sz="half" idx="2"/>
          </p:nvPr>
        </p:nvSpPr>
        <p:spPr>
          <a:xfrm>
            <a:off x="63360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1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1123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22" name="Titel 1"/>
          <p:cNvSpPr>
            <a:spLocks noGrp="1"/>
          </p:cNvSpPr>
          <p:nvPr>
            <p:ph type="title"/>
          </p:nvPr>
        </p:nvSpPr>
        <p:spPr>
          <a:xfrm>
            <a:off x="625024" y="764704"/>
            <a:ext cx="8639175" cy="5493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bearbeiten</a:t>
            </a:r>
          </a:p>
        </p:txBody>
      </p:sp>
      <p:pic>
        <p:nvPicPr>
          <p:cNvPr id="15" name="Bild 14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3" name="Inhaltsplatzhalter 2"/>
          <p:cNvSpPr>
            <a:spLocks noGrp="1"/>
          </p:cNvSpPr>
          <p:nvPr>
            <p:ph sz="quarter" idx="10"/>
          </p:nvPr>
        </p:nvSpPr>
        <p:spPr>
          <a:xfrm>
            <a:off x="633414" y="1485900"/>
            <a:ext cx="8639174" cy="4824413"/>
          </a:xfrm>
          <a:prstGeom prst="rect">
            <a:avLst/>
          </a:prstGeom>
        </p:spPr>
        <p:txBody>
          <a:bodyPr lIns="0" tIns="0" rIns="0" bIns="0"/>
          <a:lstStyle>
            <a:lvl1pPr>
              <a:defRPr lang="de-DE" b="0" i="0" dirty="0"/>
            </a:lvl1pPr>
          </a:lstStyle>
          <a:p>
            <a:pPr marL="0" lv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8622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Grafik, 1 Spalt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6" name="Titel 1"/>
          <p:cNvSpPr>
            <a:spLocks noGrp="1"/>
          </p:cNvSpPr>
          <p:nvPr>
            <p:ph type="title"/>
          </p:nvPr>
        </p:nvSpPr>
        <p:spPr>
          <a:xfrm>
            <a:off x="625211" y="765640"/>
            <a:ext cx="8634059" cy="5493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bearbeiten</a:t>
            </a:r>
          </a:p>
        </p:txBody>
      </p:sp>
      <p:pic>
        <p:nvPicPr>
          <p:cNvPr id="18" name="Bild 17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10" hasCustomPrompt="1"/>
          </p:nvPr>
        </p:nvSpPr>
        <p:spPr>
          <a:xfrm>
            <a:off x="633413" y="1485900"/>
            <a:ext cx="3743523" cy="48244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80000"/>
              </a:lnSpc>
              <a:spcBef>
                <a:spcPts val="400"/>
              </a:spcBef>
              <a:buFontTx/>
              <a:buNone/>
              <a:defRPr/>
            </a:lvl1pPr>
          </a:lstStyle>
          <a:p>
            <a:pPr lvl="0"/>
            <a:r>
              <a:rPr lang="de-DE" dirty="0"/>
              <a:t>Objekt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sz="quarter" idx="12"/>
          </p:nvPr>
        </p:nvSpPr>
        <p:spPr>
          <a:xfrm>
            <a:off x="5025008" y="1485900"/>
            <a:ext cx="4247580" cy="48244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7418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se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8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9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0835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6" name="Bild 5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4955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Titel und 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42950" y="609600"/>
            <a:ext cx="8420100" cy="1143000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Diagrammplatzhalter 2"/>
          <p:cNvSpPr>
            <a:spLocks noGrp="1"/>
          </p:cNvSpPr>
          <p:nvPr>
            <p:ph type="chart" idx="1"/>
          </p:nvPr>
        </p:nvSpPr>
        <p:spPr>
          <a:xfrm>
            <a:off x="742950" y="1981200"/>
            <a:ext cx="842010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74295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384550" y="6248400"/>
            <a:ext cx="313690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709930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fld id="{C1D2A193-0E07-4D57-91FA-B230AFA30926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7316363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3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742950" y="1981200"/>
            <a:ext cx="41275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5035550" y="1981200"/>
            <a:ext cx="41275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92B8972-D613-4840-A2B3-1E4A6CAB1F2E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0966199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42950" y="609600"/>
            <a:ext cx="8420100" cy="1143000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abellenplatzhalter 2"/>
          <p:cNvSpPr>
            <a:spLocks noGrp="1"/>
          </p:cNvSpPr>
          <p:nvPr>
            <p:ph type="tbl" idx="1"/>
          </p:nvPr>
        </p:nvSpPr>
        <p:spPr>
          <a:xfrm>
            <a:off x="742950" y="1981200"/>
            <a:ext cx="842010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74295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384550" y="6248400"/>
            <a:ext cx="313690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709930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fld id="{A371CBB4-E08C-4D62-9221-C71248BA951B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5837093"/>
      </p:ext>
    </p:extLst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742950" y="2130426"/>
            <a:ext cx="84201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/>
              <a:t>Formatvorlage des Untertitelmasters durch Klicken bearbeiten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C18A035-105A-416C-95A9-DF36EC924CB5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3491182"/>
      </p:ext>
    </p:extLst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5032111" y="1535113"/>
            <a:ext cx="437859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5032111" y="2174875"/>
            <a:ext cx="437859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B9EEBD0-682E-4ED1-987F-8E094F6AFA36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7083096"/>
      </p:ext>
    </p:extLst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F4E2F2D-8D9A-48C8-8D29-6EA451C747A3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839242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1805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0" r:id="rId3"/>
    <p:sldLayoutId id="2147483652" r:id="rId4"/>
    <p:sldLayoutId id="2147483654" r:id="rId5"/>
    <p:sldLayoutId id="2147483657" r:id="rId6"/>
    <p:sldLayoutId id="2147483656" r:id="rId7"/>
    <p:sldLayoutId id="2147483659" r:id="rId8"/>
    <p:sldLayoutId id="2147483651" r:id="rId9"/>
    <p:sldLayoutId id="2147483653" r:id="rId10"/>
    <p:sldLayoutId id="2147483655" r:id="rId11"/>
    <p:sldLayoutId id="2147483662" r:id="rId12"/>
    <p:sldLayoutId id="2147483663" r:id="rId13"/>
    <p:sldLayoutId id="2147483664" r:id="rId14"/>
    <p:sldLayoutId id="2147483666" r:id="rId15"/>
    <p:sldLayoutId id="2147483668" r:id="rId16"/>
    <p:sldLayoutId id="2147483670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 cap="all" spc="100">
          <a:solidFill>
            <a:schemeClr val="tx1"/>
          </a:solidFill>
          <a:latin typeface="Calibri"/>
          <a:ea typeface="+mj-ea"/>
          <a:cs typeface="Arial" panose="020B0604020202020204" pitchFamily="34" charset="0"/>
        </a:defRPr>
      </a:lvl1pPr>
    </p:titleStyle>
    <p:bodyStyle>
      <a:lvl1pPr marL="182563" indent="-182563" algn="l" defTabSz="914400" rtl="0" eaLnBrk="1" latinLnBrk="0" hangingPunct="1">
        <a:spcBef>
          <a:spcPct val="20000"/>
        </a:spcBef>
        <a:buClr>
          <a:schemeClr val="accent1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Calibri"/>
          <a:ea typeface="+mn-ea"/>
          <a:cs typeface="Calibri"/>
        </a:defRPr>
      </a:lvl1pPr>
      <a:lvl2pPr marL="449263" indent="-266700" algn="l" defTabSz="914400" rtl="0" eaLnBrk="1" latinLnBrk="0" hangingPunct="1">
        <a:spcBef>
          <a:spcPct val="20000"/>
        </a:spcBef>
        <a:buClr>
          <a:schemeClr val="accent1"/>
        </a:buClr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Calibri"/>
          <a:ea typeface="+mn-ea"/>
          <a:cs typeface="Calibri"/>
        </a:defRPr>
      </a:lvl2pPr>
      <a:lvl3pPr marL="714375" indent="-265113" algn="l" defTabSz="914400" rtl="0" eaLnBrk="1" latinLnBrk="0" hangingPunct="1">
        <a:spcBef>
          <a:spcPct val="20000"/>
        </a:spcBef>
        <a:buClr>
          <a:schemeClr val="accent1"/>
        </a:buClr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Calibri"/>
          <a:ea typeface="+mn-ea"/>
          <a:cs typeface="Calibri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cb-monitor.zew.de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57D_D2233FF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git.zew.de/ub-public-finance/ecb-monitor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2017B-B994-87B0-A158-FF6CDF06B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426D21A-65E2-4A69-26EC-8B97B63EBF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1A12CDA-83D3-4EF4-BC0D-8D5887487634}" type="slidenum">
              <a:rPr lang="de-DE" smtClean="0"/>
              <a:pPr/>
              <a:t>1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2FA3328-5D62-192C-E188-370B805EF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413" y="763588"/>
            <a:ext cx="9272587" cy="981794"/>
          </a:xfrm>
        </p:spPr>
        <p:txBody>
          <a:bodyPr/>
          <a:lstStyle/>
          <a:p>
            <a:r>
              <a:rPr lang="en-GB" noProof="0" dirty="0"/>
              <a:t>EZB Monitor – “hub”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5887DFE-30E9-02CD-95AF-5709D5E14DE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3600" y="1916707"/>
            <a:ext cx="8639175" cy="4392613"/>
          </a:xfrm>
        </p:spPr>
        <p:txBody>
          <a:bodyPr/>
          <a:lstStyle/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Website combines </a:t>
            </a:r>
            <a:r>
              <a:rPr lang="en-GB" sz="2400" dirty="0" err="1"/>
              <a:t>disparat</a:t>
            </a:r>
            <a:r>
              <a:rPr lang="en-GB" sz="2400" dirty="0"/>
              <a:t> information</a:t>
            </a:r>
            <a:br>
              <a:rPr lang="en-GB" sz="2400" dirty="0"/>
            </a:br>
            <a:endParaRPr lang="en-GB" sz="240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i="1" dirty="0"/>
              <a:t>Daily </a:t>
            </a:r>
            <a:r>
              <a:rPr lang="en-GB" sz="2400" dirty="0"/>
              <a:t>digest of selected country stats </a:t>
            </a:r>
            <a:br>
              <a:rPr lang="en-GB" sz="2400" dirty="0"/>
            </a:br>
            <a:r>
              <a:rPr lang="en-GB" sz="2400" dirty="0"/>
              <a:t>from </a:t>
            </a:r>
            <a:r>
              <a:rPr lang="en-GB" sz="2400" dirty="0" err="1"/>
              <a:t>Ameco</a:t>
            </a:r>
            <a:r>
              <a:rPr lang="en-GB" sz="2400" dirty="0"/>
              <a:t> and Eurostat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i="1" dirty="0"/>
              <a:t>~Weekly </a:t>
            </a:r>
            <a:r>
              <a:rPr lang="en-GB" sz="2400" dirty="0"/>
              <a:t>digest of ECB  communications and speeches</a:t>
            </a:r>
          </a:p>
          <a:p>
            <a:pPr marL="10572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=&gt; LLM computed “scores” on ECB members and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Editorials towards board decisions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Editorials around academic research 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GB" sz="2400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endParaRPr lang="en-GB" sz="2400" noProof="0" dirty="0"/>
          </a:p>
        </p:txBody>
      </p:sp>
    </p:spTree>
    <p:extLst>
      <p:ext uri="{BB962C8B-B14F-4D97-AF65-F5344CB8AC3E}">
        <p14:creationId xmlns:p14="http://schemas.microsoft.com/office/powerpoint/2010/main" val="2044547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1A12CDA-83D3-4EF4-BC0D-8D5887487634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>
          <a:xfrm>
            <a:off x="633413" y="763588"/>
            <a:ext cx="9272587" cy="981794"/>
          </a:xfrm>
        </p:spPr>
        <p:txBody>
          <a:bodyPr/>
          <a:lstStyle/>
          <a:p>
            <a:r>
              <a:rPr lang="en-GB" noProof="0" dirty="0"/>
              <a:t>EZB Monitor – IT System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10"/>
          </p:nvPr>
        </p:nvSpPr>
        <p:spPr>
          <a:xfrm>
            <a:off x="633600" y="1916707"/>
            <a:ext cx="8639175" cy="4392613"/>
          </a:xfrm>
        </p:spPr>
        <p:txBody>
          <a:bodyPr/>
          <a:lstStyle/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noProof="0" dirty="0"/>
              <a:t>Website/Portal to communicate research</a:t>
            </a:r>
            <a:br>
              <a:rPr lang="en-GB" sz="2400" noProof="0" dirty="0"/>
            </a:br>
            <a:r>
              <a:rPr lang="en-GB" sz="2400" noProof="0" dirty="0">
                <a:hlinkClick r:id="rId3"/>
              </a:rPr>
              <a:t>https://ecb-monitor.zew.de</a:t>
            </a:r>
            <a:endParaRPr lang="en-GB" sz="2400" noProof="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S</a:t>
            </a:r>
            <a:r>
              <a:rPr lang="en-GB" sz="2400" noProof="0" dirty="0" err="1"/>
              <a:t>ubdomain</a:t>
            </a:r>
            <a:r>
              <a:rPr lang="en-GB" sz="2400" noProof="0" dirty="0"/>
              <a:t> of ZEW Institute, hosted at ZEW Institute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Separate webserver, hosted at ZEW institute, at “DMZ”</a:t>
            </a:r>
            <a:endParaRPr lang="en-GB" sz="2400" noProof="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ZEW corporate design – cooperation with KOM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Separate visitor statistics – no cookies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Based on open source software</a:t>
            </a:r>
          </a:p>
          <a:p>
            <a:pPr marL="792163" lvl="1" indent="-342900">
              <a:buFont typeface="Arial" panose="020B0604020202020204" pitchFamily="34" charset="0"/>
              <a:buChar char="•"/>
            </a:pPr>
            <a:r>
              <a:rPr lang="en-GB" dirty="0"/>
              <a:t>Debian, Apache, Python, Flask, </a:t>
            </a:r>
            <a:r>
              <a:rPr lang="en-GB" dirty="0" err="1"/>
              <a:t>Echarts</a:t>
            </a:r>
            <a:endParaRPr lang="en-GB" dirty="0"/>
          </a:p>
          <a:p>
            <a:pPr marL="792163" lvl="1" indent="-342900">
              <a:buFont typeface="Arial" panose="020B0604020202020204" pitchFamily="34" charset="0"/>
              <a:buChar char="•"/>
            </a:pPr>
            <a:r>
              <a:rPr lang="en-GB" dirty="0"/>
              <a:t>coding, data and content as git repository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 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GB" sz="240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GB" sz="2400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endParaRPr lang="en-GB" sz="2400" noProof="0" dirty="0"/>
          </a:p>
        </p:txBody>
      </p:sp>
    </p:spTree>
    <p:extLst>
      <p:ext uri="{BB962C8B-B14F-4D97-AF65-F5344CB8AC3E}">
        <p14:creationId xmlns:p14="http://schemas.microsoft.com/office/powerpoint/2010/main" val="21818530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96073-6261-44AF-3026-375E5901D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Verbinder: gewinkelt 61">
            <a:extLst>
              <a:ext uri="{FF2B5EF4-FFF2-40B4-BE49-F238E27FC236}">
                <a16:creationId xmlns:a16="http://schemas.microsoft.com/office/drawing/2014/main" id="{79C19A43-1C89-F913-0586-20272387E985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4808984" y="3097399"/>
            <a:ext cx="792088" cy="547625"/>
          </a:xfrm>
          <a:prstGeom prst="bentConnector3">
            <a:avLst>
              <a:gd name="adj1" fmla="val 50000"/>
            </a:avLst>
          </a:prstGeom>
          <a:ln w="38100">
            <a:solidFill>
              <a:srgbClr val="527DA4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7" name="Grafik 36" descr="Ein Bild, das Kreis, Screenshot, Symbol, Design enthält.&#10;&#10;KI-generierte Inhalte können fehlerhaft sein.">
            <a:extLst>
              <a:ext uri="{FF2B5EF4-FFF2-40B4-BE49-F238E27FC236}">
                <a16:creationId xmlns:a16="http://schemas.microsoft.com/office/drawing/2014/main" id="{0833C4AE-303E-491B-019A-C1962D2F8C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056" y="2228406"/>
            <a:ext cx="2905530" cy="3000794"/>
          </a:xfrm>
          <a:prstGeom prst="rect">
            <a:avLst/>
          </a:prstGeom>
        </p:spPr>
      </p:pic>
      <p:pic>
        <p:nvPicPr>
          <p:cNvPr id="22" name="Grafik 21" descr="Ein Bild, das Entwurf, Kreis, Design, Licht enthält.&#10;&#10;KI-generierte Inhalte können fehlerhaft sein.">
            <a:extLst>
              <a:ext uri="{FF2B5EF4-FFF2-40B4-BE49-F238E27FC236}">
                <a16:creationId xmlns:a16="http://schemas.microsoft.com/office/drawing/2014/main" id="{58AE8192-E860-DFE0-BD98-880FEB5A5F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472" y="1988840"/>
            <a:ext cx="2855617" cy="2505176"/>
          </a:xfrm>
          <a:prstGeom prst="rect">
            <a:avLst/>
          </a:prstGeo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6BF91775-CAB1-4195-9C90-2619310BB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413" y="763588"/>
            <a:ext cx="9000107" cy="981794"/>
          </a:xfrm>
        </p:spPr>
        <p:txBody>
          <a:bodyPr/>
          <a:lstStyle/>
          <a:p>
            <a:r>
              <a:rPr lang="en-GB" noProof="0" dirty="0"/>
              <a:t>EZB Monitor – Data Flow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D75E43C-230D-0A97-AAFB-3F47F7086DE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3600" y="1484784"/>
            <a:ext cx="8639175" cy="502173"/>
          </a:xfrm>
        </p:spPr>
        <p:txBody>
          <a:bodyPr/>
          <a:lstStyle/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dirty="0">
                <a:hlinkClick r:id="rId6"/>
              </a:rPr>
              <a:t>https://git.zew.de/ub-public-finance/ecb-monitor</a:t>
            </a:r>
            <a:endParaRPr lang="en-GB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GB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  <a:p>
            <a:endParaRPr lang="en-GB" noProof="0" dirty="0"/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BB22333D-D2E7-FC84-FDE7-1C4A2BD4C813}"/>
              </a:ext>
            </a:extLst>
          </p:cNvPr>
          <p:cNvSpPr/>
          <p:nvPr/>
        </p:nvSpPr>
        <p:spPr>
          <a:xfrm>
            <a:off x="3512840" y="2636912"/>
            <a:ext cx="1296144" cy="936104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</a:t>
            </a:r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0AA429E0-C7BD-7F95-BD06-D4A3D93EB260}"/>
              </a:ext>
            </a:extLst>
          </p:cNvPr>
          <p:cNvSpPr/>
          <p:nvPr/>
        </p:nvSpPr>
        <p:spPr>
          <a:xfrm>
            <a:off x="5601072" y="2780928"/>
            <a:ext cx="1368152" cy="1728192"/>
          </a:xfrm>
          <a:prstGeom prst="roundRect">
            <a:avLst/>
          </a:prstGeom>
          <a:noFill/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 </a:t>
            </a:r>
            <a:b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server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4E2A7001-EC16-BD19-AFC6-F92D0554E2E2}"/>
              </a:ext>
            </a:extLst>
          </p:cNvPr>
          <p:cNvSpPr/>
          <p:nvPr/>
        </p:nvSpPr>
        <p:spPr>
          <a:xfrm>
            <a:off x="704528" y="4725144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Editorials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39343B16-0040-5A72-5DB1-9537056776D8}"/>
              </a:ext>
            </a:extLst>
          </p:cNvPr>
          <p:cNvSpPr/>
          <p:nvPr/>
        </p:nvSpPr>
        <p:spPr>
          <a:xfrm>
            <a:off x="704528" y="5733256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LLM </a:t>
            </a:r>
            <a:r>
              <a:rPr lang="de-DE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compute</a:t>
            </a:r>
            <a:b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automated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moved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Server</a:t>
            </a:r>
            <a:endParaRPr lang="de-DE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0FF0A665-0CA5-BF71-BD7E-9BC685E3C982}"/>
              </a:ext>
            </a:extLst>
          </p:cNvPr>
          <p:cNvSpPr/>
          <p:nvPr/>
        </p:nvSpPr>
        <p:spPr>
          <a:xfrm>
            <a:off x="704528" y="6237312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programming</a:t>
            </a:r>
            <a:b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5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phased</a:t>
            </a:r>
            <a:r>
              <a:rPr lang="de-DE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out</a:t>
            </a:r>
            <a:endParaRPr lang="de-DE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" name="Verbinder: gewinkelt 10">
            <a:extLst>
              <a:ext uri="{FF2B5EF4-FFF2-40B4-BE49-F238E27FC236}">
                <a16:creationId xmlns:a16="http://schemas.microsoft.com/office/drawing/2014/main" id="{D073D429-931B-7721-E56B-EC9428039384}"/>
              </a:ext>
            </a:extLst>
          </p:cNvPr>
          <p:cNvCxnSpPr>
            <a:cxnSpLocks/>
            <a:stCxn id="7" idx="3"/>
            <a:endCxn id="2" idx="1"/>
          </p:cNvCxnSpPr>
          <p:nvPr/>
        </p:nvCxnSpPr>
        <p:spPr>
          <a:xfrm flipV="1">
            <a:off x="2720752" y="3104964"/>
            <a:ext cx="792088" cy="1800200"/>
          </a:xfrm>
          <a:prstGeom prst="bentConnector3">
            <a:avLst>
              <a:gd name="adj1" fmla="val 50000"/>
            </a:avLst>
          </a:prstGeom>
          <a:ln w="25400"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A7785BA8-352F-13FB-54AB-5D1867E43BDA}"/>
              </a:ext>
            </a:extLst>
          </p:cNvPr>
          <p:cNvCxnSpPr>
            <a:cxnSpLocks/>
            <a:stCxn id="2" idx="1"/>
            <a:endCxn id="8" idx="3"/>
          </p:cNvCxnSpPr>
          <p:nvPr/>
        </p:nvCxnSpPr>
        <p:spPr>
          <a:xfrm rot="10800000" flipV="1">
            <a:off x="2720752" y="3104964"/>
            <a:ext cx="792088" cy="2808312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erbinder: gewinkelt 17">
            <a:extLst>
              <a:ext uri="{FF2B5EF4-FFF2-40B4-BE49-F238E27FC236}">
                <a16:creationId xmlns:a16="http://schemas.microsoft.com/office/drawing/2014/main" id="{D76581CB-61D1-FEBA-B1A5-DF4BB8608E4F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2720752" y="3104964"/>
            <a:ext cx="792088" cy="3312368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40888564-F901-2A36-CB8D-8D52276002BF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4808984" y="3104964"/>
            <a:ext cx="792088" cy="540060"/>
          </a:xfrm>
          <a:prstGeom prst="bentConnector3">
            <a:avLst>
              <a:gd name="adj1" fmla="val 50000"/>
            </a:avLst>
          </a:prstGeom>
          <a:ln w="25400"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hteck: abgerundete Ecken 38">
            <a:extLst>
              <a:ext uri="{FF2B5EF4-FFF2-40B4-BE49-F238E27FC236}">
                <a16:creationId xmlns:a16="http://schemas.microsoft.com/office/drawing/2014/main" id="{01CF84D2-5480-287C-46F2-49A8D594762C}"/>
              </a:ext>
            </a:extLst>
          </p:cNvPr>
          <p:cNvSpPr/>
          <p:nvPr/>
        </p:nvSpPr>
        <p:spPr>
          <a:xfrm>
            <a:off x="7373946" y="5599819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ameco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4F298A50-CA95-18D1-B032-67830635BFC8}"/>
              </a:ext>
            </a:extLst>
          </p:cNvPr>
          <p:cNvSpPr/>
          <p:nvPr/>
        </p:nvSpPr>
        <p:spPr>
          <a:xfrm>
            <a:off x="7373946" y="6093296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eurostat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2304A280-9D5F-8542-1536-364BD3407FF0}"/>
              </a:ext>
            </a:extLst>
          </p:cNvPr>
          <p:cNvSpPr/>
          <p:nvPr/>
        </p:nvSpPr>
        <p:spPr>
          <a:xfrm>
            <a:off x="7354474" y="4732707"/>
            <a:ext cx="2016224" cy="687091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ECB </a:t>
            </a:r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speeches</a:t>
            </a:r>
            <a:b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LLM </a:t>
            </a:r>
            <a:r>
              <a:rPr lang="de-DE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compute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4" name="Verbinder: gewinkelt 43">
            <a:extLst>
              <a:ext uri="{FF2B5EF4-FFF2-40B4-BE49-F238E27FC236}">
                <a16:creationId xmlns:a16="http://schemas.microsoft.com/office/drawing/2014/main" id="{7044A7A2-EF75-917A-59B3-2D6468CE333E}"/>
              </a:ext>
            </a:extLst>
          </p:cNvPr>
          <p:cNvCxnSpPr>
            <a:cxnSpLocks/>
            <a:stCxn id="6" idx="3"/>
            <a:endCxn id="41" idx="1"/>
          </p:cNvCxnSpPr>
          <p:nvPr/>
        </p:nvCxnSpPr>
        <p:spPr>
          <a:xfrm>
            <a:off x="6969224" y="3645024"/>
            <a:ext cx="385250" cy="1431229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Verbinder: gewinkelt 50">
            <a:extLst>
              <a:ext uri="{FF2B5EF4-FFF2-40B4-BE49-F238E27FC236}">
                <a16:creationId xmlns:a16="http://schemas.microsoft.com/office/drawing/2014/main" id="{435E805E-4AF7-9B8B-5848-ACB1EEB41C93}"/>
              </a:ext>
            </a:extLst>
          </p:cNvPr>
          <p:cNvCxnSpPr>
            <a:cxnSpLocks/>
            <a:stCxn id="6" idx="3"/>
            <a:endCxn id="39" idx="1"/>
          </p:cNvCxnSpPr>
          <p:nvPr/>
        </p:nvCxnSpPr>
        <p:spPr>
          <a:xfrm>
            <a:off x="6969224" y="3645024"/>
            <a:ext cx="404722" cy="2134815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Verbinder: gewinkelt 53">
            <a:extLst>
              <a:ext uri="{FF2B5EF4-FFF2-40B4-BE49-F238E27FC236}">
                <a16:creationId xmlns:a16="http://schemas.microsoft.com/office/drawing/2014/main" id="{CFB6B01A-9631-F1BE-9D92-8D4228EEC214}"/>
              </a:ext>
            </a:extLst>
          </p:cNvPr>
          <p:cNvCxnSpPr>
            <a:cxnSpLocks/>
            <a:stCxn id="6" idx="3"/>
            <a:endCxn id="40" idx="1"/>
          </p:cNvCxnSpPr>
          <p:nvPr/>
        </p:nvCxnSpPr>
        <p:spPr>
          <a:xfrm>
            <a:off x="6969224" y="3645024"/>
            <a:ext cx="404722" cy="2628292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feld 58">
            <a:extLst>
              <a:ext uri="{FF2B5EF4-FFF2-40B4-BE49-F238E27FC236}">
                <a16:creationId xmlns:a16="http://schemas.microsoft.com/office/drawing/2014/main" id="{75B18F28-DFB7-1997-9AA8-14BEE951A000}"/>
              </a:ext>
            </a:extLst>
          </p:cNvPr>
          <p:cNvSpPr txBox="1"/>
          <p:nvPr/>
        </p:nvSpPr>
        <p:spPr>
          <a:xfrm>
            <a:off x="7694395" y="4365104"/>
            <a:ext cx="1841851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daily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/, </a:t>
            </a:r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weekly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pull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C05166BD-ABAE-5E57-832C-36C1DA46962E}"/>
              </a:ext>
            </a:extLst>
          </p:cNvPr>
          <p:cNvSpPr txBox="1"/>
          <p:nvPr/>
        </p:nvSpPr>
        <p:spPr>
          <a:xfrm>
            <a:off x="4964348" y="2494057"/>
            <a:ext cx="407163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pulled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531031E1-B893-A53C-0D84-DEF1B194E314}"/>
              </a:ext>
            </a:extLst>
          </p:cNvPr>
          <p:cNvSpPr txBox="1"/>
          <p:nvPr/>
        </p:nvSpPr>
        <p:spPr>
          <a:xfrm>
            <a:off x="4953713" y="3707740"/>
            <a:ext cx="503343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content</a:t>
            </a: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pushed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E285C72B-2E8B-F61E-55F6-19B0882FDB92}"/>
              </a:ext>
            </a:extLst>
          </p:cNvPr>
          <p:cNvSpPr txBox="1"/>
          <p:nvPr/>
        </p:nvSpPr>
        <p:spPr>
          <a:xfrm>
            <a:off x="3512840" y="3573016"/>
            <a:ext cx="1440160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All </a:t>
            </a: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version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history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Auto deploy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Backup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Vulnerability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scan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Flussdiagramm: Anzeige 2">
            <a:extLst>
              <a:ext uri="{FF2B5EF4-FFF2-40B4-BE49-F238E27FC236}">
                <a16:creationId xmlns:a16="http://schemas.microsoft.com/office/drawing/2014/main" id="{40211A0D-9DCE-18CE-89BA-EBE688513A02}"/>
              </a:ext>
            </a:extLst>
          </p:cNvPr>
          <p:cNvSpPr/>
          <p:nvPr/>
        </p:nvSpPr>
        <p:spPr>
          <a:xfrm>
            <a:off x="6969224" y="1268070"/>
            <a:ext cx="936104" cy="684075"/>
          </a:xfrm>
          <a:prstGeom prst="flowChartDisplay">
            <a:avLst/>
          </a:prstGeom>
          <a:noFill/>
          <a:ln w="158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Statistics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lussdiagramm: Anzeige 9">
            <a:extLst>
              <a:ext uri="{FF2B5EF4-FFF2-40B4-BE49-F238E27FC236}">
                <a16:creationId xmlns:a16="http://schemas.microsoft.com/office/drawing/2014/main" id="{B5231C3A-9128-BD35-670D-DAB96A5AF82C}"/>
              </a:ext>
            </a:extLst>
          </p:cNvPr>
          <p:cNvSpPr/>
          <p:nvPr/>
        </p:nvSpPr>
        <p:spPr>
          <a:xfrm>
            <a:off x="8013005" y="1772816"/>
            <a:ext cx="936104" cy="684075"/>
          </a:xfrm>
          <a:prstGeom prst="flowChartDisplay">
            <a:avLst/>
          </a:prstGeom>
          <a:noFill/>
          <a:ln w="158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</a:t>
            </a:r>
            <a:b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 Alarm</a:t>
            </a:r>
          </a:p>
        </p:txBody>
      </p:sp>
      <p:cxnSp>
        <p:nvCxnSpPr>
          <p:cNvPr id="12" name="Verbinder: gewinkelt 11">
            <a:extLst>
              <a:ext uri="{FF2B5EF4-FFF2-40B4-BE49-F238E27FC236}">
                <a16:creationId xmlns:a16="http://schemas.microsoft.com/office/drawing/2014/main" id="{47B39FB2-72D4-932A-8352-B11B2B70FB65}"/>
              </a:ext>
            </a:extLst>
          </p:cNvPr>
          <p:cNvCxnSpPr>
            <a:cxnSpLocks/>
            <a:stCxn id="3" idx="1"/>
            <a:endCxn id="6" idx="0"/>
          </p:cNvCxnSpPr>
          <p:nvPr/>
        </p:nvCxnSpPr>
        <p:spPr>
          <a:xfrm rot="10800000" flipV="1">
            <a:off x="6285148" y="1610108"/>
            <a:ext cx="684076" cy="1170820"/>
          </a:xfrm>
          <a:prstGeom prst="bentConnector2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E92989F5-5050-EF6E-116C-0919382CB3AB}"/>
              </a:ext>
            </a:extLst>
          </p:cNvPr>
          <p:cNvCxnSpPr>
            <a:cxnSpLocks/>
            <a:stCxn id="10" idx="1"/>
            <a:endCxn id="6" idx="0"/>
          </p:cNvCxnSpPr>
          <p:nvPr/>
        </p:nvCxnSpPr>
        <p:spPr>
          <a:xfrm rot="10800000" flipV="1">
            <a:off x="6285149" y="2114854"/>
            <a:ext cx="1727857" cy="666074"/>
          </a:xfrm>
          <a:prstGeom prst="curvedConnector2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B10E95C9-2373-D0A0-7686-A737FBED9387}"/>
              </a:ext>
            </a:extLst>
          </p:cNvPr>
          <p:cNvSpPr/>
          <p:nvPr/>
        </p:nvSpPr>
        <p:spPr>
          <a:xfrm>
            <a:off x="704528" y="5157192"/>
            <a:ext cx="2016224" cy="216024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ECB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panel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updates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" name="Verbinder: gewinkelt 16" descr="Student assistant updates Excel file">
            <a:extLst>
              <a:ext uri="{FF2B5EF4-FFF2-40B4-BE49-F238E27FC236}">
                <a16:creationId xmlns:a16="http://schemas.microsoft.com/office/drawing/2014/main" id="{C8733E90-2C5F-6ED5-86DF-89D3B6C28EF0}"/>
              </a:ext>
            </a:extLst>
          </p:cNvPr>
          <p:cNvCxnSpPr>
            <a:cxnSpLocks/>
            <a:stCxn id="15" idx="3"/>
            <a:endCxn id="2" idx="1"/>
          </p:cNvCxnSpPr>
          <p:nvPr/>
        </p:nvCxnSpPr>
        <p:spPr>
          <a:xfrm flipV="1">
            <a:off x="2720752" y="3104964"/>
            <a:ext cx="792088" cy="2160240"/>
          </a:xfrm>
          <a:prstGeom prst="bentConnector3">
            <a:avLst>
              <a:gd name="adj1" fmla="val 50000"/>
            </a:avLst>
          </a:prstGeom>
          <a:ln w="25400"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2EDD212D-7136-80A9-A6AE-0A38DFE6AF6C}"/>
              </a:ext>
            </a:extLst>
          </p:cNvPr>
          <p:cNvSpPr txBox="1"/>
          <p:nvPr/>
        </p:nvSpPr>
        <p:spPr>
          <a:xfrm>
            <a:off x="2477814" y="3246961"/>
            <a:ext cx="4955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https://www.zew.de/en/legal-note</a:t>
            </a:r>
          </a:p>
        </p:txBody>
      </p:sp>
    </p:spTree>
    <p:extLst>
      <p:ext uri="{BB962C8B-B14F-4D97-AF65-F5344CB8AC3E}">
        <p14:creationId xmlns:p14="http://schemas.microsoft.com/office/powerpoint/2010/main" val="352552549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DC971-BE6E-6BE2-5394-2EDBD31C2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B20B746-C1F4-20EA-1E03-A17A9520B6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1A12CDA-83D3-4EF4-BC0D-8D5887487634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9426476D-53B6-A7B4-9533-BA5B99D70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413" y="763588"/>
            <a:ext cx="9272587" cy="981794"/>
          </a:xfrm>
        </p:spPr>
        <p:txBody>
          <a:bodyPr/>
          <a:lstStyle/>
          <a:p>
            <a:r>
              <a:rPr lang="en-GB" noProof="0" dirty="0"/>
              <a:t>IT System - Underbelly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3AEA5551-B689-F208-69F2-96C7EC08EF02}"/>
              </a:ext>
            </a:extLst>
          </p:cNvPr>
          <p:cNvSpPr/>
          <p:nvPr/>
        </p:nvSpPr>
        <p:spPr>
          <a:xfrm>
            <a:off x="2677592" y="1640940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Few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pages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DE9C637D-030D-3E12-A343-91CC9C8C8E1C}"/>
              </a:ext>
            </a:extLst>
          </p:cNvPr>
          <p:cNvSpPr/>
          <p:nvPr/>
        </p:nvSpPr>
        <p:spPr>
          <a:xfrm>
            <a:off x="2362272" y="5869464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Linux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Setup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1C7C33B3-BB5C-DB07-EEDF-6334EEB4FBCB}"/>
              </a:ext>
            </a:extLst>
          </p:cNvPr>
          <p:cNvSpPr/>
          <p:nvPr/>
        </p:nvSpPr>
        <p:spPr>
          <a:xfrm>
            <a:off x="3325664" y="5038790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Certificates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Sec-Headers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8C3238BE-31CB-A552-0EEE-C87318D1AF17}"/>
              </a:ext>
            </a:extLst>
          </p:cNvPr>
          <p:cNvSpPr/>
          <p:nvPr/>
        </p:nvSpPr>
        <p:spPr>
          <a:xfrm>
            <a:off x="1856656" y="5046038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Webserver + DNS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3D489556-CB43-5166-2DF0-ABCFEE2C0AB5}"/>
              </a:ext>
            </a:extLst>
          </p:cNvPr>
          <p:cNvSpPr/>
          <p:nvPr/>
        </p:nvSpPr>
        <p:spPr>
          <a:xfrm>
            <a:off x="6385026" y="5038790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Statistics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server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A95FC00B-A235-F77F-C879-C11DC0135BDE}"/>
              </a:ext>
            </a:extLst>
          </p:cNvPr>
          <p:cNvSpPr/>
          <p:nvPr/>
        </p:nvSpPr>
        <p:spPr>
          <a:xfrm>
            <a:off x="5127310" y="3419942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into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zew.de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2D59DE65-AC14-90B9-5418-1659A6595F93}"/>
              </a:ext>
            </a:extLst>
          </p:cNvPr>
          <p:cNvSpPr/>
          <p:nvPr/>
        </p:nvSpPr>
        <p:spPr>
          <a:xfrm>
            <a:off x="3660800" y="3414242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Mobile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view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A9E11685-0E5C-E74E-EC51-458F80FCC137}"/>
              </a:ext>
            </a:extLst>
          </p:cNvPr>
          <p:cNvSpPr/>
          <p:nvPr/>
        </p:nvSpPr>
        <p:spPr>
          <a:xfrm>
            <a:off x="8094180" y="3427190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Graphics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production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34BD95DD-0D76-E7C7-5FF1-45B611C349E0}"/>
              </a:ext>
            </a:extLst>
          </p:cNvPr>
          <p:cNvSpPr/>
          <p:nvPr/>
        </p:nvSpPr>
        <p:spPr>
          <a:xfrm>
            <a:off x="6609184" y="3427190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I18N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092A960B-167A-F048-C0D7-63F1772A742E}"/>
              </a:ext>
            </a:extLst>
          </p:cNvPr>
          <p:cNvSpPr/>
          <p:nvPr/>
        </p:nvSpPr>
        <p:spPr>
          <a:xfrm>
            <a:off x="775748" y="4234910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Router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Tpl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renderer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AFD62CFD-8C48-A78D-0598-A5C992322639}"/>
              </a:ext>
            </a:extLst>
          </p:cNvPr>
          <p:cNvSpPr/>
          <p:nvPr/>
        </p:nvSpPr>
        <p:spPr>
          <a:xfrm>
            <a:off x="632520" y="3417288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async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7D89C7E2-68BB-F85F-E4BB-3022CA21D7E5}"/>
              </a:ext>
            </a:extLst>
          </p:cNvPr>
          <p:cNvSpPr/>
          <p:nvPr/>
        </p:nvSpPr>
        <p:spPr>
          <a:xfrm>
            <a:off x="2290270" y="4260994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JS, CSS, </a:t>
            </a:r>
            <a:r>
              <a:rPr lang="de-DE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Imgs</a:t>
            </a:r>
            <a: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Caching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363247E3-217F-BA20-D324-221F9D0A4205}"/>
              </a:ext>
            </a:extLst>
          </p:cNvPr>
          <p:cNvSpPr/>
          <p:nvPr/>
        </p:nvSpPr>
        <p:spPr>
          <a:xfrm>
            <a:off x="6766332" y="4304828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Crawl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Downl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Prep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D1AD7A61-E3CB-6575-393E-040DFA9A1D17}"/>
              </a:ext>
            </a:extLst>
          </p:cNvPr>
          <p:cNvSpPr/>
          <p:nvPr/>
        </p:nvSpPr>
        <p:spPr>
          <a:xfrm>
            <a:off x="8249142" y="4304828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deploy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D0248910-17FB-4E48-C223-AEBDFC40FA2B}"/>
              </a:ext>
            </a:extLst>
          </p:cNvPr>
          <p:cNvSpPr/>
          <p:nvPr/>
        </p:nvSpPr>
        <p:spPr>
          <a:xfrm>
            <a:off x="4880992" y="5046038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Python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safety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25D9D929-83E7-8C59-9CD6-08D7644687D3}"/>
              </a:ext>
            </a:extLst>
          </p:cNvPr>
          <p:cNvSpPr/>
          <p:nvPr/>
        </p:nvSpPr>
        <p:spPr>
          <a:xfrm>
            <a:off x="7833570" y="5038790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Monitoring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server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4F0A26C6-9887-D932-3DB5-71917C84DB80}"/>
              </a:ext>
            </a:extLst>
          </p:cNvPr>
          <p:cNvSpPr/>
          <p:nvPr/>
        </p:nvSpPr>
        <p:spPr>
          <a:xfrm>
            <a:off x="5386608" y="5873368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ACL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/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B3B653BE-9305-D119-9192-67BA34110736}"/>
              </a:ext>
            </a:extLst>
          </p:cNvPr>
          <p:cNvSpPr/>
          <p:nvPr/>
        </p:nvSpPr>
        <p:spPr>
          <a:xfrm>
            <a:off x="3857710" y="5873368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patches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hteck: abgerundete Ecken 24">
            <a:extLst>
              <a:ext uri="{FF2B5EF4-FFF2-40B4-BE49-F238E27FC236}">
                <a16:creationId xmlns:a16="http://schemas.microsoft.com/office/drawing/2014/main" id="{3194E091-7CDE-BB9C-6816-A3D94CADF0C2}"/>
              </a:ext>
            </a:extLst>
          </p:cNvPr>
          <p:cNvSpPr/>
          <p:nvPr/>
        </p:nvSpPr>
        <p:spPr>
          <a:xfrm>
            <a:off x="3771187" y="4279136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Markdown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Blog eng</a:t>
            </a:r>
          </a:p>
        </p:txBody>
      </p: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100FBD3E-452A-3E39-D8E4-0FEE62C76028}"/>
              </a:ext>
            </a:extLst>
          </p:cNvPr>
          <p:cNvSpPr/>
          <p:nvPr/>
        </p:nvSpPr>
        <p:spPr>
          <a:xfrm>
            <a:off x="833374" y="5877272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VM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VM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backup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1B5C7ACD-2DC2-C78A-8E39-F62BD1EE7E15}"/>
              </a:ext>
            </a:extLst>
          </p:cNvPr>
          <p:cNvSpPr/>
          <p:nvPr/>
        </p:nvSpPr>
        <p:spPr>
          <a:xfrm>
            <a:off x="5269706" y="4283298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cron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extension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B840F395-ABAB-7A30-A0CA-798CFB77124E}"/>
              </a:ext>
            </a:extLst>
          </p:cNvPr>
          <p:cNvSpPr/>
          <p:nvPr/>
        </p:nvSpPr>
        <p:spPr>
          <a:xfrm>
            <a:off x="2099030" y="3403676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update</a:t>
            </a: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570D6A95-7969-F45F-8E86-FC999C09F2D9}"/>
              </a:ext>
            </a:extLst>
          </p:cNvPr>
          <p:cNvSpPr/>
          <p:nvPr/>
        </p:nvSpPr>
        <p:spPr>
          <a:xfrm>
            <a:off x="5673456" y="1644026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Visible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Website</a:t>
            </a:r>
          </a:p>
        </p:txBody>
      </p:sp>
      <p:sp>
        <p:nvSpPr>
          <p:cNvPr id="30" name="Rechteck: abgerundete Ecken 29">
            <a:extLst>
              <a:ext uri="{FF2B5EF4-FFF2-40B4-BE49-F238E27FC236}">
                <a16:creationId xmlns:a16="http://schemas.microsoft.com/office/drawing/2014/main" id="{9BBB60EB-A5BB-E39E-2C18-A79A4E45934D}"/>
              </a:ext>
            </a:extLst>
          </p:cNvPr>
          <p:cNvSpPr/>
          <p:nvPr/>
        </p:nvSpPr>
        <p:spPr>
          <a:xfrm>
            <a:off x="4174044" y="1640940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Few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loops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FE35D4B2-35CF-C854-555D-638E3BFB2072}"/>
              </a:ext>
            </a:extLst>
          </p:cNvPr>
          <p:cNvSpPr/>
          <p:nvPr/>
        </p:nvSpPr>
        <p:spPr>
          <a:xfrm>
            <a:off x="8125300" y="2683316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strike="sngStrik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Barrier</a:t>
            </a:r>
            <a:br>
              <a:rPr lang="de-DE" sz="1600" strike="sngStrik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strike="sngStrik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free</a:t>
            </a:r>
            <a:r>
              <a:rPr lang="de-DE" sz="1600" strike="sngStrik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600" strike="sngStrik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view</a:t>
            </a:r>
            <a:endParaRPr lang="de-DE" sz="1600" strike="sngStrik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D2FA104B-42E7-A131-1432-E73B48DDDEE8}"/>
              </a:ext>
            </a:extLst>
          </p:cNvPr>
          <p:cNvSpPr/>
          <p:nvPr/>
        </p:nvSpPr>
        <p:spPr>
          <a:xfrm>
            <a:off x="5139494" y="2705399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CSS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styling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2632E240-708E-E8AD-88D5-05EB98D3254E}"/>
              </a:ext>
            </a:extLst>
          </p:cNvPr>
          <p:cNvSpPr/>
          <p:nvPr/>
        </p:nvSpPr>
        <p:spPr>
          <a:xfrm>
            <a:off x="3656856" y="2708772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eCharts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353703"/>
      </p:ext>
    </p:extLst>
  </p:cSld>
  <p:clrMapOvr>
    <a:masterClrMapping/>
  </p:clrMapOvr>
</p:sld>
</file>

<file path=ppt/theme/theme1.xml><?xml version="1.0" encoding="utf-8"?>
<a:theme xmlns:a="http://schemas.openxmlformats.org/drawingml/2006/main" name="ZEW Master">
  <a:themeElements>
    <a:clrScheme name="Benutzerdefiniert 2">
      <a:dk1>
        <a:srgbClr val="000000"/>
      </a:dk1>
      <a:lt1>
        <a:sysClr val="window" lastClr="FFFFFF"/>
      </a:lt1>
      <a:dk2>
        <a:srgbClr val="000000"/>
      </a:dk2>
      <a:lt2>
        <a:srgbClr val="505050"/>
      </a:lt2>
      <a:accent1>
        <a:srgbClr val="B4BE28"/>
      </a:accent1>
      <a:accent2>
        <a:srgbClr val="527DA4"/>
      </a:accent2>
      <a:accent3>
        <a:srgbClr val="9C2424"/>
      </a:accent3>
      <a:accent4>
        <a:srgbClr val="C7A92F"/>
      </a:accent4>
      <a:accent5>
        <a:srgbClr val="958C47"/>
      </a:accent5>
      <a:accent6>
        <a:srgbClr val="F79646"/>
      </a:accent6>
      <a:hlink>
        <a:srgbClr val="527DA4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28575">
          <a:solidFill>
            <a:schemeClr val="accent1"/>
          </a:solidFill>
        </a:ln>
      </a:spPr>
      <a:bodyPr rtlCol="0" anchor="ctr"/>
      <a:lstStyle>
        <a:defPPr algn="ctr">
          <a:defRPr dirty="0" smtClean="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>
          <a:defRPr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319</Words>
  <Application>Microsoft Office PowerPoint</Application>
  <PresentationFormat>A4-Papier (210 x 297 mm)</PresentationFormat>
  <Paragraphs>76</Paragraphs>
  <Slides>4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9" baseType="lpstr">
      <vt:lpstr>Arial</vt:lpstr>
      <vt:lpstr>Calibri</vt:lpstr>
      <vt:lpstr>Symbol</vt:lpstr>
      <vt:lpstr>Wingdings</vt:lpstr>
      <vt:lpstr>ZEW Master</vt:lpstr>
      <vt:lpstr>EZB Monitor – “hub”</vt:lpstr>
      <vt:lpstr>EZB Monitor – IT System</vt:lpstr>
      <vt:lpstr>EZB Monitor – Data Flow</vt:lpstr>
      <vt:lpstr>IT System - Underbelly</vt:lpstr>
    </vt:vector>
  </TitlesOfParts>
  <Manager>Dominik Rehse</Manager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Zentrum für Europäische  Wirtschaftsforschung GmbH (ZEW) Mannheim | Centre for European Economic Research</dc:title>
  <dc:creator>Dominik Rehse</dc:creator>
  <cp:lastModifiedBy>Buchmann, Peter</cp:lastModifiedBy>
  <cp:revision>979</cp:revision>
  <cp:lastPrinted>2025-03-31T15:35:15Z</cp:lastPrinted>
  <dcterms:created xsi:type="dcterms:W3CDTF">2014-05-15T09:20:27Z</dcterms:created>
  <dcterms:modified xsi:type="dcterms:W3CDTF">2026-02-13T13:52:13Z</dcterms:modified>
</cp:coreProperties>
</file>