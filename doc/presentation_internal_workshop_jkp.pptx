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39" r:id="rId2"/>
    <p:sldId id="1404" r:id="rId3"/>
    <p:sldId id="1466" r:id="rId4"/>
    <p:sldId id="1469" r:id="rId5"/>
    <p:sldId id="1467" r:id="rId6"/>
    <p:sldId id="1472" r:id="rId7"/>
    <p:sldId id="1468" r:id="rId8"/>
    <p:sldId id="1470" r:id="rId9"/>
    <p:sldId id="1473" r:id="rId10"/>
    <p:sldId id="1474" r:id="rId11"/>
    <p:sldId id="1482" r:id="rId12"/>
    <p:sldId id="1477" r:id="rId13"/>
    <p:sldId id="1478" r:id="rId14"/>
    <p:sldId id="1480" r:id="rId15"/>
    <p:sldId id="1481" r:id="rId16"/>
    <p:sldId id="1483" r:id="rId17"/>
    <p:sldId id="1475" r:id="rId18"/>
    <p:sldId id="1471" r:id="rId19"/>
  </p:sldIdLst>
  <p:sldSz cx="9906000" cy="6858000" type="A4"/>
  <p:notesSz cx="6669088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 userDrawn="1">
          <p15:clr>
            <a:srgbClr val="A4A3A4"/>
          </p15:clr>
        </p15:guide>
        <p15:guide id="2" orient="horz" pos="754" userDrawn="1">
          <p15:clr>
            <a:srgbClr val="A4A3A4"/>
          </p15:clr>
        </p15:guide>
        <p15:guide id="3" orient="horz" pos="1207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  <p15:guide id="5" orient="horz" pos="1706" userDrawn="1">
          <p15:clr>
            <a:srgbClr val="A4A3A4"/>
          </p15:clr>
        </p15:guide>
        <p15:guide id="6" pos="6068" userDrawn="1">
          <p15:clr>
            <a:srgbClr val="A4A3A4"/>
          </p15:clr>
        </p15:guide>
        <p15:guide id="7" pos="172" userDrawn="1">
          <p15:clr>
            <a:srgbClr val="A4A3A4"/>
          </p15:clr>
        </p15:guide>
        <p15:guide id="8" pos="40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fam" initials="f" lastIdx="2" clrIdx="0"/>
  <p:cmAuthor id="1" name="Microsoft" initials="M" lastIdx="5" clrIdx="1"/>
  <p:cmAuthor id="2" name="Sarah-Esther Ciaglia" initials="SC" lastIdx="1" clrIdx="2">
    <p:extLst>
      <p:ext uri="{19B8F6BF-5375-455C-9EA6-DF929625EA0E}">
        <p15:presenceInfo xmlns:p15="http://schemas.microsoft.com/office/powerpoint/2012/main" userId="S-1-5-21-3463609259-212226432-2349557979-4741" providerId="AD"/>
      </p:ext>
    </p:extLst>
  </p:cmAuthor>
  <p:cmAuthor id="3" name="Friedrich Heinemann" initials="FHE" lastIdx="1" clrIdx="3">
    <p:extLst>
      <p:ext uri="{19B8F6BF-5375-455C-9EA6-DF929625EA0E}">
        <p15:presenceInfo xmlns:p15="http://schemas.microsoft.com/office/powerpoint/2012/main" userId="Friedrich Heinemann" providerId="None"/>
      </p:ext>
    </p:extLst>
  </p:cmAuthor>
  <p:cmAuthor id="4" name="Kemper, Jan" initials="KJ" lastIdx="1" clrIdx="4">
    <p:extLst>
      <p:ext uri="{19B8F6BF-5375-455C-9EA6-DF929625EA0E}">
        <p15:presenceInfo xmlns:p15="http://schemas.microsoft.com/office/powerpoint/2012/main" userId="S-1-5-21-3463609259-212226432-2349557979-830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BE28"/>
    <a:srgbClr val="009900"/>
    <a:srgbClr val="9C2438"/>
    <a:srgbClr val="527DA4"/>
    <a:srgbClr val="C7A9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85" autoAdjust="0"/>
    <p:restoredTop sz="86635" autoAdjust="0"/>
  </p:normalViewPr>
  <p:slideViewPr>
    <p:cSldViewPr snapToObjects="1">
      <p:cViewPr>
        <p:scale>
          <a:sx n="75" d="100"/>
          <a:sy n="75" d="100"/>
        </p:scale>
        <p:origin x="1277" y="125"/>
      </p:cViewPr>
      <p:guideLst>
        <p:guide orient="horz" pos="346"/>
        <p:guide orient="horz" pos="754"/>
        <p:guide orient="horz" pos="1207"/>
        <p:guide orient="horz" pos="4110"/>
        <p:guide orient="horz" pos="1706"/>
        <p:guide pos="6068"/>
        <p:guide pos="172"/>
        <p:guide pos="4073"/>
      </p:guideLst>
    </p:cSldViewPr>
  </p:slideViewPr>
  <p:outlineViewPr>
    <p:cViewPr>
      <p:scale>
        <a:sx n="33" d="100"/>
        <a:sy n="33" d="100"/>
      </p:scale>
      <p:origin x="0" y="-478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>
      <p:cViewPr varScale="1">
        <p:scale>
          <a:sx n="68" d="100"/>
          <a:sy n="68" d="100"/>
        </p:scale>
        <p:origin x="3067" y="67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777608" y="1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/>
          <a:lstStyle>
            <a:lvl1pPr algn="r">
              <a:defRPr sz="1100"/>
            </a:lvl1pPr>
          </a:lstStyle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1" y="9428585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 anchor="b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777608" y="9428585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 anchor="b"/>
          <a:lstStyle>
            <a:lvl1pPr algn="r">
              <a:defRPr sz="1100"/>
            </a:lvl1pPr>
          </a:lstStyle>
          <a:p>
            <a:fld id="{7F7E0C50-4D70-8F4B-B7EF-9539930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6094582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777608" y="1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/>
          <a:lstStyle>
            <a:lvl1pPr algn="r">
              <a:defRPr sz="1100"/>
            </a:lvl1pPr>
          </a:lstStyle>
          <a:p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46113" y="744538"/>
            <a:ext cx="5376862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22" tIns="45361" rIns="90722" bIns="45361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66909" y="4715155"/>
            <a:ext cx="5335270" cy="4466987"/>
          </a:xfrm>
          <a:prstGeom prst="rect">
            <a:avLst/>
          </a:prstGeom>
        </p:spPr>
        <p:txBody>
          <a:bodyPr vert="horz" lIns="90722" tIns="45361" rIns="90722" bIns="45361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428585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 anchor="b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777608" y="9428585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 anchor="b"/>
          <a:lstStyle>
            <a:lvl1pPr algn="r">
              <a:defRPr sz="1100"/>
            </a:lvl1pPr>
          </a:lstStyle>
          <a:p>
            <a:fld id="{CF1E3524-81C1-473B-AE0F-697B830EC5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8750302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6239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 smtClean="0"/>
              <a:t>Whatever</a:t>
            </a:r>
            <a:r>
              <a:rPr lang="de-DE" dirty="0" smtClean="0"/>
              <a:t> </a:t>
            </a:r>
            <a:r>
              <a:rPr lang="de-DE" dirty="0" err="1" smtClean="0"/>
              <a:t>it</a:t>
            </a:r>
            <a:r>
              <a:rPr lang="de-DE" dirty="0" smtClean="0"/>
              <a:t> </a:t>
            </a:r>
            <a:r>
              <a:rPr lang="de-DE" dirty="0" err="1" smtClean="0"/>
              <a:t>takes</a:t>
            </a:r>
            <a:r>
              <a:rPr lang="de-DE" dirty="0" smtClean="0"/>
              <a:t> – PEPP</a:t>
            </a:r>
            <a:r>
              <a:rPr lang="de-DE" baseline="0" dirty="0" smtClean="0"/>
              <a:t> – TPI – </a:t>
            </a:r>
            <a:r>
              <a:rPr lang="de-DE" baseline="0" dirty="0" err="1" smtClean="0"/>
              <a:t>Structural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asset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portfolio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9117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 smtClean="0"/>
              <a:t>. „Die öffentliche Diskussion geldpolitischer Entscheidungen ist heute stark durch Beiträge der Zentralbanken und marktnahe Analysten („Zentralbank-</a:t>
            </a:r>
            <a:r>
              <a:rPr lang="de-DE" dirty="0" err="1" smtClean="0"/>
              <a:t>Watcher</a:t>
            </a:r>
            <a:r>
              <a:rPr lang="de-DE" dirty="0" smtClean="0"/>
              <a:t>“) aus Finanzinstitutionen geprägt. Über die Kommunikationssäule möchte dieses Forschungsvorhaben demgegenüber das wissenschaftlich basierte, unabhängige, öffentliche Monitoring der EZB stärken.“(S. 4)</a:t>
            </a:r>
            <a:endParaRPr lang="en-US" noProof="0" dirty="0" smtClean="0"/>
          </a:p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6995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5662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:\Wegweiser\Medien\ZEW_Logo\ZEW Logo Farbe\ZEW-Logo_ohne Schriftzug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288" y="5877272"/>
            <a:ext cx="1320006" cy="44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I:\WW\Hiwis_und_Praktikanten\Konstantin\Musterpräsentation\LogoLeibniz_Farbe_RGB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014" y="5845075"/>
            <a:ext cx="876573" cy="59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800000" y="1080000"/>
            <a:ext cx="6833964" cy="1484904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pPr marL="0" marR="0" lvl="0" indent="0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de-DE" sz="48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Hier steht der Titel der Präsentation</a:t>
            </a:r>
            <a:endParaRPr kumimoji="0" lang="de-DE" sz="4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2" hasCustomPrompt="1"/>
          </p:nvPr>
        </p:nvSpPr>
        <p:spPr>
          <a:xfrm>
            <a:off x="1800000" y="3735703"/>
            <a:ext cx="5903912" cy="36326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kern="1200" cap="none" spc="0" normalizeH="0" baseline="0" noProof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Anlass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weiterer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Titel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800000" y="2679128"/>
            <a:ext cx="5905500" cy="36021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Prof. Dr. XXX</a:t>
            </a:r>
          </a:p>
        </p:txBody>
      </p:sp>
      <p:sp>
        <p:nvSpPr>
          <p:cNvPr id="14" name="Textplatzhalt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800000" y="3015623"/>
            <a:ext cx="5905500" cy="36021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DD.MM.YYYY</a:t>
            </a:r>
          </a:p>
        </p:txBody>
      </p:sp>
    </p:spTree>
    <p:extLst>
      <p:ext uri="{BB962C8B-B14F-4D97-AF65-F5344CB8AC3E}">
        <p14:creationId xmlns:p14="http://schemas.microsoft.com/office/powerpoint/2010/main" val="2691835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zeiliger Titel, 1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73050" y="620688"/>
            <a:ext cx="9359900" cy="548184"/>
          </a:xfrm>
          <a:prstGeom prst="rect">
            <a:avLst/>
          </a:prstGeom>
        </p:spPr>
        <p:txBody>
          <a:bodyPr lIns="90000" tIns="36000" rIns="90000" bIns="36000"/>
          <a:lstStyle>
            <a:lvl1pPr>
              <a:defRPr sz="2100" cap="none"/>
            </a:lvl1pPr>
          </a:lstStyle>
          <a:p>
            <a:endParaRPr lang="de-DE" dirty="0"/>
          </a:p>
        </p:txBody>
      </p:sp>
      <p:pic>
        <p:nvPicPr>
          <p:cNvPr id="6" name="Bild 5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466136" y="6551402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92771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 userDrawn="1">
          <p15:clr>
            <a:srgbClr val="FBAE40"/>
          </p15:clr>
        </p15:guide>
        <p15:guide id="2" pos="606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zeiliger Titel, 1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/>
          <p:cNvSpPr>
            <a:spLocks noGrp="1"/>
          </p:cNvSpPr>
          <p:nvPr>
            <p:ph type="dt" sz="half" idx="2"/>
          </p:nvPr>
        </p:nvSpPr>
        <p:spPr>
          <a:xfrm>
            <a:off x="63360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9600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633413" y="763588"/>
            <a:ext cx="8639175" cy="9817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Zweizeilig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15" name="Inhaltsplatzhalter 9"/>
          <p:cNvSpPr>
            <a:spLocks noGrp="1"/>
          </p:cNvSpPr>
          <p:nvPr>
            <p:ph sz="quarter" idx="10"/>
          </p:nvPr>
        </p:nvSpPr>
        <p:spPr>
          <a:xfrm>
            <a:off x="633600" y="1917700"/>
            <a:ext cx="8639175" cy="439261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endParaRPr lang="de-DE" dirty="0"/>
          </a:p>
        </p:txBody>
      </p:sp>
      <p:pic>
        <p:nvPicPr>
          <p:cNvPr id="16" name="Bild 15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zeiliger Titel, 2 Spalte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"/>
          <p:cNvSpPr>
            <a:spLocks noGrp="1"/>
          </p:cNvSpPr>
          <p:nvPr>
            <p:ph type="title"/>
          </p:nvPr>
        </p:nvSpPr>
        <p:spPr>
          <a:xfrm>
            <a:off x="632520" y="764704"/>
            <a:ext cx="8640068" cy="5493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9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19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1211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0"/>
          </p:nvPr>
        </p:nvSpPr>
        <p:spPr>
          <a:xfrm>
            <a:off x="633600" y="1485901"/>
            <a:ext cx="4089275" cy="4824412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  <p:pic>
        <p:nvPicPr>
          <p:cNvPr id="13" name="Bild 12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9" name="Inhaltsplatzhalter 2"/>
          <p:cNvSpPr>
            <a:spLocks noGrp="1"/>
          </p:cNvSpPr>
          <p:nvPr>
            <p:ph sz="quarter" idx="11"/>
          </p:nvPr>
        </p:nvSpPr>
        <p:spPr>
          <a:xfrm>
            <a:off x="5173245" y="1485901"/>
            <a:ext cx="4089275" cy="4824412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70390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zeiliger Titel, 2 Spalte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3003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3" name="Titel 1"/>
          <p:cNvSpPr>
            <a:spLocks noGrp="1"/>
          </p:cNvSpPr>
          <p:nvPr>
            <p:ph type="title" hasCustomPrompt="1"/>
          </p:nvPr>
        </p:nvSpPr>
        <p:spPr>
          <a:xfrm>
            <a:off x="632573" y="763588"/>
            <a:ext cx="8640907" cy="9817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Zweizeilig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9" name="Bild 8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10" name="Inhaltsplatzhalter 2"/>
          <p:cNvSpPr>
            <a:spLocks noGrp="1"/>
          </p:cNvSpPr>
          <p:nvPr>
            <p:ph sz="quarter" idx="10"/>
          </p:nvPr>
        </p:nvSpPr>
        <p:spPr>
          <a:xfrm>
            <a:off x="633600" y="1917700"/>
            <a:ext cx="4089275" cy="439261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1" name="Inhaltsplatzhalter 2"/>
          <p:cNvSpPr>
            <a:spLocks noGrp="1"/>
          </p:cNvSpPr>
          <p:nvPr>
            <p:ph sz="quarter" idx="11"/>
          </p:nvPr>
        </p:nvSpPr>
        <p:spPr>
          <a:xfrm>
            <a:off x="5182041" y="1917700"/>
            <a:ext cx="4089275" cy="439261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2116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zeiliger Titel,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2"/>
          <p:cNvSpPr>
            <a:spLocks noGrp="1"/>
          </p:cNvSpPr>
          <p:nvPr>
            <p:ph idx="13"/>
          </p:nvPr>
        </p:nvSpPr>
        <p:spPr>
          <a:xfrm>
            <a:off x="633600" y="1917700"/>
            <a:ext cx="8638988" cy="43926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800"/>
              </a:spcBef>
              <a:spcAft>
                <a:spcPts val="400"/>
              </a:spcAft>
              <a:buSzPct val="100000"/>
              <a:buFont typeface="Wingdings" charset="2"/>
              <a:buNone/>
              <a:defRPr b="0" i="0"/>
            </a:lvl1pPr>
            <a:lvl2pPr marL="342000" indent="0">
              <a:lnSpc>
                <a:spcPts val="2000"/>
              </a:lnSpc>
              <a:spcBef>
                <a:spcPts val="100"/>
              </a:spcBef>
              <a:buFontTx/>
              <a:buNone/>
              <a:defRPr/>
            </a:lvl2pPr>
            <a:lvl3pPr marL="180000" indent="0">
              <a:buFontTx/>
              <a:buNone/>
              <a:defRPr/>
            </a:lvl3pPr>
          </a:lstStyle>
          <a:p>
            <a:pPr lvl="0"/>
            <a:endParaRPr lang="de-DE" dirty="0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2256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625211" y="763588"/>
            <a:ext cx="8623717" cy="9817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Zweizeilig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13" name="Bild 12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liederungseben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33413" y="1917701"/>
            <a:ext cx="8639175" cy="4392612"/>
          </a:xfrm>
          <a:prstGeom prst="rect">
            <a:avLst/>
          </a:prstGeom>
        </p:spPr>
        <p:txBody>
          <a:bodyPr lIns="0" tIns="0" rIns="0" bIns="0"/>
          <a:lstStyle>
            <a:lvl1pPr>
              <a:defRPr lang="de-DE" b="0" i="0" dirty="0" smtClean="0"/>
            </a:lvl1pPr>
          </a:lstStyle>
          <a:p>
            <a:pPr marL="0" lvl="0" indent="0">
              <a:spcBef>
                <a:spcPts val="800"/>
              </a:spcBef>
              <a:spcAft>
                <a:spcPts val="400"/>
              </a:spcAft>
              <a:buSzPct val="100000"/>
              <a:buFont typeface="Wingdings" charset="2"/>
              <a:buNone/>
            </a:pPr>
            <a:endParaRPr lang="de-DE" dirty="0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2256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"/>
          <p:cNvSpPr>
            <a:spLocks noGrp="1"/>
          </p:cNvSpPr>
          <p:nvPr>
            <p:ph type="title" hasCustomPrompt="1"/>
          </p:nvPr>
        </p:nvSpPr>
        <p:spPr>
          <a:xfrm>
            <a:off x="625024" y="759417"/>
            <a:ext cx="8639175" cy="9817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Zweizeilig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8" name="Bild 7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837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Gliederungsebe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2256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Titel 1"/>
          <p:cNvSpPr>
            <a:spLocks noGrp="1"/>
          </p:cNvSpPr>
          <p:nvPr>
            <p:ph type="title" hasCustomPrompt="1"/>
          </p:nvPr>
        </p:nvSpPr>
        <p:spPr>
          <a:xfrm>
            <a:off x="625024" y="763588"/>
            <a:ext cx="8639175" cy="9817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Zweizeilig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8" name="Bild 7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>
          <a:xfrm>
            <a:off x="633414" y="1917701"/>
            <a:ext cx="8639174" cy="4392612"/>
          </a:xfrm>
          <a:prstGeom prst="rect">
            <a:avLst/>
          </a:prstGeom>
        </p:spPr>
        <p:txBody>
          <a:bodyPr lIns="0" tIns="0" rIns="0" bIns="0"/>
          <a:lstStyle>
            <a:lvl1pPr>
              <a:defRPr lang="de-DE" b="0" i="0" dirty="0"/>
            </a:lvl1pPr>
          </a:lstStyle>
          <a:p>
            <a:pPr marL="0" lvl="0" indent="0">
              <a:spcBef>
                <a:spcPts val="800"/>
              </a:spcBef>
              <a:spcAft>
                <a:spcPts val="400"/>
              </a:spcAft>
              <a:buSzPct val="100000"/>
              <a:buFont typeface="Wingdings" charset="2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94692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Text mit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umsplatzhalter 3"/>
          <p:cNvSpPr>
            <a:spLocks noGrp="1"/>
          </p:cNvSpPr>
          <p:nvPr>
            <p:ph type="dt" sz="half" idx="2"/>
          </p:nvPr>
        </p:nvSpPr>
        <p:spPr>
          <a:xfrm>
            <a:off x="63360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1123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2" name="Titel 1"/>
          <p:cNvSpPr>
            <a:spLocks noGrp="1"/>
          </p:cNvSpPr>
          <p:nvPr>
            <p:ph type="title"/>
          </p:nvPr>
        </p:nvSpPr>
        <p:spPr>
          <a:xfrm>
            <a:off x="625024" y="764704"/>
            <a:ext cx="8639175" cy="5493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bearbeiten</a:t>
            </a:r>
          </a:p>
        </p:txBody>
      </p:sp>
      <p:pic>
        <p:nvPicPr>
          <p:cNvPr id="15" name="Bild 14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3" name="Inhaltsplatzhalter 2"/>
          <p:cNvSpPr>
            <a:spLocks noGrp="1"/>
          </p:cNvSpPr>
          <p:nvPr>
            <p:ph sz="quarter" idx="10"/>
          </p:nvPr>
        </p:nvSpPr>
        <p:spPr>
          <a:xfrm>
            <a:off x="633414" y="1485900"/>
            <a:ext cx="8639174" cy="4824413"/>
          </a:xfrm>
          <a:prstGeom prst="rect">
            <a:avLst/>
          </a:prstGeom>
        </p:spPr>
        <p:txBody>
          <a:bodyPr lIns="0" tIns="0" rIns="0" bIns="0"/>
          <a:lstStyle>
            <a:lvl1pPr>
              <a:defRPr lang="de-DE" b="0" i="0" dirty="0"/>
            </a:lvl1pPr>
          </a:lstStyle>
          <a:p>
            <a:pPr marL="0" lvl="0" indent="0">
              <a:spcBef>
                <a:spcPts val="800"/>
              </a:spcBef>
              <a:spcAft>
                <a:spcPts val="400"/>
              </a:spcAft>
              <a:buSzPct val="100000"/>
              <a:buFont typeface="Wingdings" charset="2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862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Grafik, 1 Spal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2256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Titel 1"/>
          <p:cNvSpPr>
            <a:spLocks noGrp="1"/>
          </p:cNvSpPr>
          <p:nvPr>
            <p:ph type="title"/>
          </p:nvPr>
        </p:nvSpPr>
        <p:spPr>
          <a:xfrm>
            <a:off x="625211" y="765640"/>
            <a:ext cx="8634059" cy="5493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bearbeiten</a:t>
            </a:r>
          </a:p>
        </p:txBody>
      </p:sp>
      <p:pic>
        <p:nvPicPr>
          <p:cNvPr id="18" name="Bild 17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3" y="1485900"/>
            <a:ext cx="3743523" cy="482441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80000"/>
              </a:lnSpc>
              <a:spcBef>
                <a:spcPts val="400"/>
              </a:spcBef>
              <a:buFontTx/>
              <a:buNone/>
              <a:defRPr/>
            </a:lvl1pPr>
          </a:lstStyle>
          <a:p>
            <a:pPr lvl="0"/>
            <a:r>
              <a:rPr lang="de-DE" dirty="0"/>
              <a:t>Objekt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2"/>
          </p:nvPr>
        </p:nvSpPr>
        <p:spPr>
          <a:xfrm>
            <a:off x="5025008" y="1485900"/>
            <a:ext cx="4247580" cy="482441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418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0835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6" name="Bild 5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495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el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42950" y="609600"/>
            <a:ext cx="84201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Diagrammplatzhalter 2"/>
          <p:cNvSpPr>
            <a:spLocks noGrp="1"/>
          </p:cNvSpPr>
          <p:nvPr>
            <p:ph type="chart" idx="1"/>
          </p:nvPr>
        </p:nvSpPr>
        <p:spPr>
          <a:xfrm>
            <a:off x="742950" y="1981200"/>
            <a:ext cx="84201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fld id="{C1D2A193-0E07-4D57-91FA-B230AFA30926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731636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1275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35550" y="1981200"/>
            <a:ext cx="41275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2B8972-D613-4840-A2B3-1E4A6CAB1F2E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0966199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42950" y="609600"/>
            <a:ext cx="84201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742950" y="1981200"/>
            <a:ext cx="84201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fld id="{A371CBB4-E08C-4D62-9221-C71248BA951B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583709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18A035-105A-416C-95A9-DF36EC924CB5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349118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9EEBD0-682E-4ED1-987F-8E094F6AFA36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708309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4E2F2D-8D9A-48C8-8D29-6EA451C747A3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83924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805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0" r:id="rId3"/>
    <p:sldLayoutId id="2147483652" r:id="rId4"/>
    <p:sldLayoutId id="2147483654" r:id="rId5"/>
    <p:sldLayoutId id="2147483657" r:id="rId6"/>
    <p:sldLayoutId id="2147483656" r:id="rId7"/>
    <p:sldLayoutId id="2147483659" r:id="rId8"/>
    <p:sldLayoutId id="2147483651" r:id="rId9"/>
    <p:sldLayoutId id="2147483653" r:id="rId10"/>
    <p:sldLayoutId id="2147483655" r:id="rId11"/>
    <p:sldLayoutId id="2147483662" r:id="rId12"/>
    <p:sldLayoutId id="2147483663" r:id="rId13"/>
    <p:sldLayoutId id="2147483664" r:id="rId14"/>
    <p:sldLayoutId id="2147483666" r:id="rId15"/>
    <p:sldLayoutId id="2147483668" r:id="rId16"/>
    <p:sldLayoutId id="2147483670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cap="all" spc="100">
          <a:solidFill>
            <a:schemeClr val="tx1"/>
          </a:solidFill>
          <a:latin typeface="Calibri"/>
          <a:ea typeface="+mj-ea"/>
          <a:cs typeface="Arial" panose="020B0604020202020204" pitchFamily="34" charset="0"/>
        </a:defRPr>
      </a:lvl1pPr>
    </p:titleStyle>
    <p:bodyStyle>
      <a:lvl1pPr marL="182563" indent="-182563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Calibri"/>
          <a:ea typeface="+mn-ea"/>
          <a:cs typeface="Calibri"/>
        </a:defRPr>
      </a:lvl1pPr>
      <a:lvl2pPr marL="449263" indent="-2667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libri"/>
          <a:ea typeface="+mn-ea"/>
          <a:cs typeface="Calibri"/>
        </a:defRPr>
      </a:lvl2pPr>
      <a:lvl3pPr marL="714375" indent="-265113" algn="l" defTabSz="914400" rtl="0" eaLnBrk="1" latinLnBrk="0" hangingPunct="1">
        <a:spcBef>
          <a:spcPct val="20000"/>
        </a:spcBef>
        <a:buClr>
          <a:schemeClr val="accent1"/>
        </a:buClr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Calibri"/>
          <a:ea typeface="+mn-ea"/>
          <a:cs typeface="Calibri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onostream-media.com/hawk-dove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private-banking-magazin.de/hawkometer-die-wanderfalken-der-ezb/?page=2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s.org/cbspeeches/download.htm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bis-med-it.github.io/gingado/" TargetMode="External"/><Relationship Id="rId2" Type="http://schemas.openxmlformats.org/officeDocument/2006/relationships/hyperlink" Target="https://www.bis.org/cbspeeches/download.htm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c.europa.eu/eurostat/web/user-guides/data-browser/api-data-access/api-getting-started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92560" y="1160748"/>
            <a:ext cx="8496944" cy="936104"/>
          </a:xfrm>
        </p:spPr>
        <p:txBody>
          <a:bodyPr/>
          <a:lstStyle/>
          <a:p>
            <a:r>
              <a:rPr lang="de-DE" b="0" dirty="0"/>
              <a:t/>
            </a:r>
            <a:br>
              <a:rPr lang="de-DE" b="0" dirty="0"/>
            </a:br>
            <a:r>
              <a:rPr lang="de-DE" b="0" dirty="0" smtClean="0"/>
              <a:t>EZB-</a:t>
            </a:r>
            <a:r>
              <a:rPr lang="de-DE" b="0" dirty="0" err="1" smtClean="0"/>
              <a:t>TransparenzMonitor</a:t>
            </a:r>
            <a:r>
              <a:rPr lang="de-DE" b="0" dirty="0" smtClean="0"/>
              <a:t> – Interner Workshop</a:t>
            </a: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>
          <a:xfrm>
            <a:off x="1136576" y="3356992"/>
            <a:ext cx="7920880" cy="360213"/>
          </a:xfrm>
        </p:spPr>
        <p:txBody>
          <a:bodyPr/>
          <a:lstStyle/>
          <a:p>
            <a:endParaRPr lang="en-US" noProof="0" dirty="0" smtClean="0"/>
          </a:p>
          <a:p>
            <a:r>
              <a:rPr lang="en-US" b="0" dirty="0"/>
              <a:t>Friedrich Heinemann (ZEW Mannheim and University of Heidelberg)</a:t>
            </a:r>
          </a:p>
          <a:p>
            <a:r>
              <a:rPr lang="en-US" b="0" noProof="0" dirty="0" smtClean="0"/>
              <a:t>Jan Kemper (ZEW Mannheim and University of Mannheim</a:t>
            </a:r>
            <a:r>
              <a:rPr lang="en-US" b="0" noProof="0" dirty="0" smtClean="0"/>
              <a:t>)</a:t>
            </a:r>
          </a:p>
          <a:p>
            <a:endParaRPr lang="en-US" b="0" noProof="0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136576" y="4797152"/>
            <a:ext cx="6840760" cy="360213"/>
          </a:xfrm>
        </p:spPr>
        <p:txBody>
          <a:bodyPr/>
          <a:lstStyle/>
          <a:p>
            <a:endParaRPr lang="en-US" noProof="0" dirty="0" smtClean="0"/>
          </a:p>
          <a:p>
            <a:endParaRPr lang="en-US" dirty="0"/>
          </a:p>
          <a:p>
            <a:endParaRPr lang="en-US" noProof="0" dirty="0" smtClean="0"/>
          </a:p>
          <a:p>
            <a:r>
              <a:rPr lang="en-US" dirty="0" smtClean="0"/>
              <a:t>ZEW 2025</a:t>
            </a:r>
            <a:endParaRPr lang="en-US" noProof="0" dirty="0" smtClean="0"/>
          </a:p>
          <a:p>
            <a:r>
              <a:rPr lang="en-US" noProof="0" dirty="0" smtClean="0"/>
              <a:t>Mannheim</a:t>
            </a:r>
            <a:r>
              <a:rPr lang="en-US" noProof="0" dirty="0" smtClean="0"/>
              <a:t>, Mai </a:t>
            </a:r>
            <a:r>
              <a:rPr lang="en-US" dirty="0" smtClean="0"/>
              <a:t>28</a:t>
            </a:r>
            <a:r>
              <a:rPr lang="en-US" noProof="0" dirty="0" smtClean="0"/>
              <a:t>, </a:t>
            </a:r>
            <a:r>
              <a:rPr lang="en-US" noProof="0" dirty="0" smtClean="0"/>
              <a:t>2025</a:t>
            </a:r>
          </a:p>
          <a:p>
            <a:endParaRPr lang="en-US" noProof="0" dirty="0" smtClean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8220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633413" y="763588"/>
            <a:ext cx="9272587" cy="981794"/>
          </a:xfrm>
        </p:spPr>
        <p:txBody>
          <a:bodyPr/>
          <a:lstStyle/>
          <a:p>
            <a:r>
              <a:rPr lang="en-US" noProof="0" dirty="0" err="1" smtClean="0"/>
              <a:t>Struktur</a:t>
            </a:r>
            <a:r>
              <a:rPr lang="en-US" noProof="0" dirty="0" smtClean="0"/>
              <a:t> Workshop</a:t>
            </a:r>
            <a:endParaRPr lang="en-US" noProof="0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Einführung</a:t>
            </a:r>
            <a:r>
              <a:rPr lang="en-US" dirty="0" smtClean="0"/>
              <a:t>: </a:t>
            </a:r>
            <a:r>
              <a:rPr lang="en-US" dirty="0" err="1" smtClean="0"/>
              <a:t>Warum</a:t>
            </a:r>
            <a:r>
              <a:rPr lang="en-US" dirty="0" smtClean="0"/>
              <a:t> </a:t>
            </a:r>
            <a:r>
              <a:rPr lang="en-US" dirty="0" err="1" smtClean="0"/>
              <a:t>brauchen</a:t>
            </a:r>
            <a:r>
              <a:rPr lang="en-US" dirty="0" smtClean="0"/>
              <a:t> </a:t>
            </a:r>
            <a:r>
              <a:rPr lang="en-US" dirty="0" err="1" smtClean="0"/>
              <a:t>wir</a:t>
            </a:r>
            <a:r>
              <a:rPr lang="en-US" dirty="0" smtClean="0"/>
              <a:t> </a:t>
            </a:r>
            <a:r>
              <a:rPr lang="en-US" dirty="0" err="1" smtClean="0"/>
              <a:t>einen</a:t>
            </a:r>
            <a:r>
              <a:rPr lang="en-US" dirty="0" smtClean="0"/>
              <a:t> EZB </a:t>
            </a:r>
            <a:r>
              <a:rPr lang="en-US" dirty="0" err="1" smtClean="0"/>
              <a:t>Transparenzmonitor</a:t>
            </a:r>
            <a:r>
              <a:rPr lang="en-US" dirty="0" smtClean="0"/>
              <a:t>?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Zielgruppe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Marktanalyse</a:t>
            </a:r>
            <a:r>
              <a:rPr lang="en-US" dirty="0"/>
              <a:t>: Was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Produkte</a:t>
            </a:r>
            <a:r>
              <a:rPr lang="en-US" dirty="0"/>
              <a:t> </a:t>
            </a:r>
            <a:r>
              <a:rPr lang="en-US" dirty="0" err="1"/>
              <a:t>gibt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 smtClean="0"/>
              <a:t>?</a:t>
            </a:r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Geplanter</a:t>
            </a:r>
            <a:r>
              <a:rPr lang="en-US" dirty="0" smtClean="0"/>
              <a:t> </a:t>
            </a:r>
            <a:r>
              <a:rPr lang="en-US" dirty="0" err="1" smtClean="0"/>
              <a:t>Aufbau</a:t>
            </a:r>
            <a:r>
              <a:rPr lang="en-US" dirty="0" smtClean="0"/>
              <a:t> des EZB </a:t>
            </a:r>
            <a:r>
              <a:rPr lang="en-US" dirty="0" err="1" smtClean="0"/>
              <a:t>Transparenzmonitors</a:t>
            </a:r>
            <a:r>
              <a:rPr lang="en-US" dirty="0" smtClean="0"/>
              <a:t> &amp; Feedback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Kommunikationsstrategie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Technische</a:t>
            </a:r>
            <a:r>
              <a:rPr lang="en-US" dirty="0" smtClean="0"/>
              <a:t> </a:t>
            </a:r>
            <a:r>
              <a:rPr lang="en-US" dirty="0" err="1" smtClean="0"/>
              <a:t>Voraussetzungen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endParaRPr lang="en-US" noProof="0" dirty="0"/>
          </a:p>
          <a:p>
            <a:pPr marL="457200" indent="-457200">
              <a:buFont typeface="+mj-lt"/>
              <a:buAutoNum type="arabicPeriod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1853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Motivation</a:t>
            </a:r>
            <a:endParaRPr lang="en-US" noProof="0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0"/>
          </p:nvPr>
        </p:nvSpPr>
        <p:spPr>
          <a:xfrm>
            <a:off x="633412" y="1745382"/>
            <a:ext cx="8639175" cy="4392613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noProof="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800" noProof="0" dirty="0" smtClean="0"/>
              <a:t>Öffentliche Diskussion zur EZB stark geprägt von Beiträgen der Zentralbanken und marktnahe Analysten („Zentralbank-</a:t>
            </a:r>
            <a:r>
              <a:rPr lang="de-DE" sz="2800" noProof="0" dirty="0" err="1" smtClean="0"/>
              <a:t>Watcher</a:t>
            </a:r>
            <a:r>
              <a:rPr lang="de-DE" sz="2800" noProof="0" dirty="0" smtClean="0"/>
              <a:t>“)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800" dirty="0" smtClean="0"/>
              <a:t>Potentielle Zielkonflikte bei Selbstüberwachung der Zentralbanken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800" dirty="0" smtClean="0"/>
              <a:t>Unabhängiger Forschungsdiskurs in schwer zugänglichen Fachjournalen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800" dirty="0" smtClean="0"/>
              <a:t>Lücke: unabhängige wissenschaftliche Kommunikation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18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Empirische Evidenz zur Behauptung Diskurs stark von </a:t>
            </a:r>
            <a:r>
              <a:rPr lang="de-DE" dirty="0" err="1" smtClean="0"/>
              <a:t>Zentralbanke</a:t>
            </a:r>
            <a:r>
              <a:rPr lang="de-DE" dirty="0" smtClean="0"/>
              <a:t> geprägt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 smtClean="0"/>
              <a:t>- Share Co-</a:t>
            </a:r>
            <a:r>
              <a:rPr lang="de-DE" dirty="0" err="1" smtClean="0"/>
              <a:t>authors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 </a:t>
            </a:r>
            <a:r>
              <a:rPr lang="de-DE" dirty="0" err="1" smtClean="0"/>
              <a:t>central</a:t>
            </a:r>
            <a:r>
              <a:rPr lang="de-DE" dirty="0" smtClean="0"/>
              <a:t> </a:t>
            </a:r>
            <a:r>
              <a:rPr lang="de-DE" dirty="0" err="1" smtClean="0"/>
              <a:t>banks</a:t>
            </a:r>
            <a:r>
              <a:rPr lang="de-DE" dirty="0" smtClean="0"/>
              <a:t>/ECB in relevant </a:t>
            </a:r>
            <a:r>
              <a:rPr lang="de-DE" dirty="0" err="1" smtClean="0"/>
              <a:t>economic</a:t>
            </a:r>
            <a:r>
              <a:rPr lang="de-DE" dirty="0" smtClean="0"/>
              <a:t> </a:t>
            </a:r>
            <a:r>
              <a:rPr lang="de-DE" dirty="0" err="1" smtClean="0"/>
              <a:t>journals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18713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Einführung: EZB </a:t>
            </a:r>
            <a:r>
              <a:rPr lang="de-DE" dirty="0" err="1" smtClean="0"/>
              <a:t>TransparenzMonitor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 smtClean="0"/>
              <a:t>Problem: Lücke in unabhängiger wissenschaftlicher Monitoring der EZB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/>
              <a:t>Besonders relevant bei der EZB, die keiner direkten demokratischen Kontrolle unterstellt ist</a:t>
            </a:r>
            <a:endParaRPr lang="de-DE" dirty="0"/>
          </a:p>
          <a:p>
            <a:r>
              <a:rPr lang="de-DE" dirty="0" smtClean="0"/>
              <a:t>Lösung: Transparenz erhöhen</a:t>
            </a:r>
          </a:p>
          <a:p>
            <a:endParaRPr lang="de-DE" dirty="0"/>
          </a:p>
          <a:p>
            <a:r>
              <a:rPr lang="de-DE" dirty="0" smtClean="0"/>
              <a:t>Unser Beitrag: EZB Transparenzmonitor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/>
              <a:t>Leicht zugängliche unabhängige wissenschaftliche Informationen zur EZB </a:t>
            </a:r>
            <a:endParaRPr lang="de-DE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>
                <a:sym typeface="Wingdings" panose="05000000000000000000" pitchFamily="2" charset="2"/>
              </a:rPr>
              <a:t>Interaktive Website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/>
              <a:t>Überblick über geplante Inhalte</a:t>
            </a:r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de-DE" sz="1600" dirty="0" smtClean="0"/>
              <a:t>Biographische Informationen zu den Ratsmitgliedern</a:t>
            </a:r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de-DE" sz="1600" dirty="0" smtClean="0"/>
              <a:t>KI Textanalyse von Reden der Ratsmitglieder (</a:t>
            </a:r>
            <a:r>
              <a:rPr lang="de-DE" sz="1600" dirty="0" err="1" smtClean="0"/>
              <a:t>Hawkish</a:t>
            </a:r>
            <a:r>
              <a:rPr lang="de-DE" sz="1600" dirty="0" smtClean="0"/>
              <a:t>/</a:t>
            </a:r>
            <a:r>
              <a:rPr lang="de-DE" sz="1600" dirty="0" err="1" smtClean="0"/>
              <a:t>Dovish</a:t>
            </a:r>
            <a:r>
              <a:rPr lang="de-DE" sz="1600" dirty="0" smtClean="0"/>
              <a:t>, Themensetzung) </a:t>
            </a:r>
            <a:r>
              <a:rPr lang="de-DE" sz="1600" dirty="0" smtClean="0">
                <a:sym typeface="Wingdings" panose="05000000000000000000" pitchFamily="2" charset="2"/>
              </a:rPr>
              <a:t> Aktuelle Analysen</a:t>
            </a:r>
            <a:endParaRPr lang="de-DE" sz="1600" dirty="0" smtClean="0"/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de-DE" sz="1600" dirty="0" smtClean="0"/>
              <a:t>Relevante Makroökonomische Indikatoren (Inflationsrate, Staatsverschuldung)</a:t>
            </a:r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de-DE" sz="1600" dirty="0" smtClean="0"/>
              <a:t>Aktuelle Kommentare und eigene Forschungsergebnisse</a:t>
            </a:r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de-DE" sz="1600" dirty="0" smtClean="0"/>
              <a:t>…</a:t>
            </a:r>
          </a:p>
          <a:p>
            <a:pPr marL="792163" lvl="1" indent="-342900">
              <a:buFont typeface="Arial" panose="020B0604020202020204" pitchFamily="34" charset="0"/>
              <a:buChar char="•"/>
            </a:pPr>
            <a:endParaRPr lang="de-DE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21047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ZielGruppe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/>
              <a:t>„Zielgruppe des Monitors sind Personen aus </a:t>
            </a:r>
            <a:r>
              <a:rPr lang="de-DE" u="sng" dirty="0"/>
              <a:t>Medien</a:t>
            </a:r>
            <a:r>
              <a:rPr lang="de-DE" dirty="0"/>
              <a:t>, </a:t>
            </a:r>
            <a:r>
              <a:rPr lang="de-DE" u="sng" dirty="0"/>
              <a:t>Finanzindustrie</a:t>
            </a:r>
            <a:r>
              <a:rPr lang="de-DE" dirty="0"/>
              <a:t>, </a:t>
            </a:r>
            <a:r>
              <a:rPr lang="de-DE" u="sng" dirty="0"/>
              <a:t>Wissenschaft</a:t>
            </a:r>
            <a:r>
              <a:rPr lang="de-DE" dirty="0"/>
              <a:t> und </a:t>
            </a:r>
            <a:r>
              <a:rPr lang="de-DE" u="sng" dirty="0"/>
              <a:t>informierter Öffentlichkeit </a:t>
            </a:r>
            <a:r>
              <a:rPr lang="de-DE" dirty="0"/>
              <a:t>in Europa, die sich aus beruflichem oder privatem Interesse in besonderer Weise für Geldpolitik und die Genese geldpolitischer Entscheidungen der EZB informieren </a:t>
            </a:r>
            <a:r>
              <a:rPr lang="de-DE" dirty="0" smtClean="0"/>
              <a:t>wollen“ (S.19 Antrag)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/>
              <a:t>Besonderer Fokus auf „Multiplikatoren“ (wie Journalisten)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12346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 smtClean="0"/>
              <a:t>Marktanalyse: Welche Webseiten Gibt es zur Einordnung der EZB Ratsmitglieder?</a:t>
            </a:r>
            <a:endParaRPr lang="de-DE" sz="2800" dirty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730667206"/>
              </p:ext>
            </p:extLst>
          </p:nvPr>
        </p:nvGraphicFramePr>
        <p:xfrm>
          <a:off x="633413" y="1917700"/>
          <a:ext cx="849605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8026"/>
                <a:gridCol w="4248026"/>
              </a:tblGrid>
              <a:tr h="323401">
                <a:tc>
                  <a:txBody>
                    <a:bodyPr/>
                    <a:lstStyle/>
                    <a:p>
                      <a:r>
                        <a:rPr lang="de-DE" dirty="0" smtClean="0"/>
                        <a:t>Zentralbanken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Nicht-Zentralbanken</a:t>
                      </a:r>
                      <a:endParaRPr lang="de-DE" dirty="0"/>
                    </a:p>
                  </a:txBody>
                  <a:tcPr/>
                </a:tc>
              </a:tr>
              <a:tr h="1515111">
                <a:tc>
                  <a:txBody>
                    <a:bodyPr/>
                    <a:lstStyle/>
                    <a:p>
                      <a:r>
                        <a:rPr lang="de-DE" dirty="0" smtClean="0"/>
                        <a:t>Webseite</a:t>
                      </a:r>
                      <a:r>
                        <a:rPr lang="de-DE" baseline="0" dirty="0" smtClean="0"/>
                        <a:t> der EZB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baseline="0" dirty="0" smtClean="0"/>
                        <a:t>Informationen zu aktuellen Ratsmitgliedern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baseline="0" dirty="0" smtClean="0"/>
                        <a:t>Pressekonferenzen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baseline="0" dirty="0" smtClean="0"/>
                        <a:t>Hintergrundinformationen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baseline="0" dirty="0" smtClean="0"/>
                        <a:t>Reden der EZB Board Mitglieder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>
                          <a:hlinkClick r:id="rId3"/>
                        </a:rPr>
                        <a:t>https://www.econostream-media.com/hawk-dove.html</a:t>
                      </a:r>
                      <a:endParaRPr lang="de-DE" dirty="0" smtClean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dirty="0" err="1" smtClean="0"/>
                        <a:t>Hawk</a:t>
                      </a:r>
                      <a:r>
                        <a:rPr lang="de-DE" dirty="0" smtClean="0"/>
                        <a:t>/Dove Einordnung </a:t>
                      </a:r>
                      <a:r>
                        <a:rPr lang="de-DE" dirty="0" smtClean="0">
                          <a:sym typeface="Wingdings" panose="05000000000000000000" pitchFamily="2" charset="2"/>
                        </a:rPr>
                        <a:t> qualitative</a:t>
                      </a:r>
                      <a:r>
                        <a:rPr lang="de-DE" baseline="0" dirty="0" smtClean="0">
                          <a:sym typeface="Wingdings" panose="05000000000000000000" pitchFamily="2" charset="2"/>
                        </a:rPr>
                        <a:t> Einordnung</a:t>
                      </a:r>
                      <a:endParaRPr lang="de-DE" dirty="0" smtClean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dirty="0" smtClean="0"/>
                        <a:t>Berichte</a:t>
                      </a:r>
                      <a:r>
                        <a:rPr lang="de-DE" baseline="0" dirty="0" smtClean="0"/>
                        <a:t> über Ratsmitglieder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DE" baseline="0" dirty="0" smtClean="0"/>
                        <a:t>Stimmberechtigt oder nicht</a:t>
                      </a:r>
                      <a:endParaRPr lang="de-DE" dirty="0"/>
                    </a:p>
                  </a:txBody>
                  <a:tcPr/>
                </a:tc>
              </a:tr>
              <a:tr h="323401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Hawkometer</a:t>
                      </a:r>
                      <a:r>
                        <a:rPr lang="de-DE" dirty="0" smtClean="0"/>
                        <a:t> der Commerzbank</a:t>
                      </a:r>
                      <a:r>
                        <a:rPr lang="de-DE" baseline="0" dirty="0" smtClean="0"/>
                        <a:t> (</a:t>
                      </a:r>
                      <a:r>
                        <a:rPr lang="de-DE" baseline="0" dirty="0" smtClean="0">
                          <a:hlinkClick r:id="rId4"/>
                        </a:rPr>
                        <a:t>https://www.private-banking-magazin.de/hawkometer-die-wanderfalken-der-ezb/?page=2</a:t>
                      </a:r>
                      <a:r>
                        <a:rPr lang="de-DE" baseline="0" dirty="0" smtClean="0"/>
                        <a:t>)</a:t>
                      </a:r>
                    </a:p>
                    <a:p>
                      <a:r>
                        <a:rPr lang="de-DE" baseline="0" dirty="0" smtClean="0"/>
                        <a:t>- 1x pro Jahr Einordnung der Ratsmitglieder (qualitativ) </a:t>
                      </a:r>
                      <a:r>
                        <a:rPr lang="de-DE" baseline="0" dirty="0" smtClean="0">
                          <a:sym typeface="Wingdings" panose="05000000000000000000" pitchFamily="2" charset="2"/>
                        </a:rPr>
                        <a:t> keine laufende Website</a:t>
                      </a:r>
                      <a:endParaRPr lang="de-DE" dirty="0"/>
                    </a:p>
                  </a:txBody>
                  <a:tcPr/>
                </a:tc>
              </a:tr>
              <a:tr h="32340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Medien (alle</a:t>
                      </a:r>
                      <a:r>
                        <a:rPr lang="de-DE" baseline="0" dirty="0" smtClean="0"/>
                        <a:t> großen Medien, aber keine spezielle Webseite für die Ratsmitglieder)</a:t>
                      </a:r>
                      <a:endParaRPr lang="de-DE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8420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Marktanalyse – </a:t>
            </a:r>
            <a:r>
              <a:rPr lang="de-DE" dirty="0" err="1" smtClean="0"/>
              <a:t>Econstream</a:t>
            </a:r>
            <a:endParaRPr lang="de-DE" dirty="0"/>
          </a:p>
        </p:txBody>
      </p:sp>
      <p:pic>
        <p:nvPicPr>
          <p:cNvPr id="5" name="Inhaltsplatzhalter 4"/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704528" y="1260061"/>
            <a:ext cx="5905031" cy="3555718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514792" y="5111473"/>
            <a:ext cx="8254631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Unterschied zu </a:t>
            </a:r>
            <a:r>
              <a:rPr lang="de-DE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Econstream</a:t>
            </a: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Wissenschaftliches Institut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Fokus auf quantitative Textanalyse </a:t>
            </a: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Einordnung transparenter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Biografien, Makroindikatoren,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Vergleichbarer langer Zeitraum (Gesamte </a:t>
            </a:r>
            <a:r>
              <a:rPr lang="de-DE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Eurozeit</a:t>
            </a: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187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Geplanter Aufbau des EZB-</a:t>
            </a:r>
            <a:r>
              <a:rPr lang="de-DE" dirty="0" err="1" smtClean="0"/>
              <a:t>TransparenzMonitors</a:t>
            </a:r>
            <a:r>
              <a:rPr lang="de-DE" dirty="0" smtClean="0"/>
              <a:t>: Generell</a:t>
            </a:r>
            <a:endParaRPr lang="de-DE" dirty="0"/>
          </a:p>
        </p:txBody>
      </p:sp>
      <p:pic>
        <p:nvPicPr>
          <p:cNvPr id="5" name="Inhaltsplatzhalter 4"/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630110" y="1917700"/>
            <a:ext cx="6645781" cy="439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531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3413" y="763588"/>
            <a:ext cx="8647587" cy="981794"/>
          </a:xfrm>
        </p:spPr>
        <p:txBody>
          <a:bodyPr/>
          <a:lstStyle/>
          <a:p>
            <a:r>
              <a:rPr lang="de-DE" sz="2400" dirty="0"/>
              <a:t>Geplanter Aufbau des EZB-</a:t>
            </a:r>
            <a:r>
              <a:rPr lang="de-DE" sz="2400" dirty="0" err="1"/>
              <a:t>TransparenzMonitors</a:t>
            </a:r>
            <a:r>
              <a:rPr lang="de-DE" sz="2400" dirty="0"/>
              <a:t>: </a:t>
            </a:r>
            <a:r>
              <a:rPr lang="de-DE" sz="2400" dirty="0" smtClean="0"/>
              <a:t>Textanalytische Indikatoren</a:t>
            </a:r>
            <a:endParaRPr lang="de-DE" sz="240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 smtClean="0"/>
              <a:t>Ziel: Positionen der Ratsmitglieder messen</a:t>
            </a:r>
          </a:p>
          <a:p>
            <a:endParaRPr lang="de-DE" dirty="0" smtClean="0"/>
          </a:p>
          <a:p>
            <a:r>
              <a:rPr lang="de-DE" dirty="0" smtClean="0"/>
              <a:t>Datenbasis: Reden von Zentralbankern (Bank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/>
              <a:t>International Settlement, </a:t>
            </a:r>
            <a:r>
              <a:rPr lang="de-DE" dirty="0">
                <a:hlinkClick r:id="rId2"/>
              </a:rPr>
              <a:t>https://</a:t>
            </a:r>
            <a:r>
              <a:rPr lang="de-DE" dirty="0" smtClean="0">
                <a:hlinkClick r:id="rId2"/>
              </a:rPr>
              <a:t>www.bis.org/cbspeeches/download.htm</a:t>
            </a:r>
            <a:r>
              <a:rPr lang="de-DE" dirty="0" smtClean="0"/>
              <a:t>) </a:t>
            </a:r>
            <a:r>
              <a:rPr lang="de-DE" dirty="0" smtClean="0">
                <a:sym typeface="Wingdings" panose="05000000000000000000" pitchFamily="2" charset="2"/>
              </a:rPr>
              <a:t> Haben API (siehe Technikdiskussion)</a:t>
            </a:r>
            <a:endParaRPr lang="de-DE" dirty="0" smtClean="0"/>
          </a:p>
          <a:p>
            <a:endParaRPr lang="de-DE" dirty="0" smtClean="0"/>
          </a:p>
          <a:p>
            <a:r>
              <a:rPr lang="de-DE" dirty="0" smtClean="0"/>
              <a:t>Relevante Indikatoren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 smtClean="0"/>
              <a:t>Ziele der EZB Ratsmitglieder (WP 2 – Zielsysteme der Mitglieder des EZB-Rats)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err="1" smtClean="0"/>
              <a:t>Hawkish</a:t>
            </a:r>
            <a:r>
              <a:rPr lang="de-DE" dirty="0" smtClean="0"/>
              <a:t>/</a:t>
            </a:r>
            <a:r>
              <a:rPr lang="de-DE" dirty="0" err="1" smtClean="0"/>
              <a:t>Dovish</a:t>
            </a:r>
            <a:r>
              <a:rPr lang="de-DE" dirty="0" smtClean="0"/>
              <a:t> Klassifikation</a:t>
            </a:r>
          </a:p>
          <a:p>
            <a:endParaRPr lang="de-DE" dirty="0" smtClean="0"/>
          </a:p>
          <a:p>
            <a:r>
              <a:rPr lang="de-DE" dirty="0" smtClean="0"/>
              <a:t>Methodik grober Überblick: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smtClean="0"/>
              <a:t>Reden komplett oder in Teilen in LLM (aktuell GPT-4o mini)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smtClean="0"/>
              <a:t>Klassifikation der Reden durch LLM 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smtClean="0"/>
              <a:t>Aggregation der Klassifikation Resultate </a:t>
            </a:r>
          </a:p>
          <a:p>
            <a:pPr marL="457200" indent="-457200">
              <a:buFont typeface="+mj-lt"/>
              <a:buAutoNum type="arabicPeriod"/>
            </a:pPr>
            <a:endParaRPr lang="de-DE" dirty="0" smtClean="0"/>
          </a:p>
          <a:p>
            <a:pPr marL="457200" indent="-457200">
              <a:buFont typeface="+mj-lt"/>
              <a:buAutoNum type="arabicPeriod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7667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3413" y="763588"/>
            <a:ext cx="8647587" cy="981794"/>
          </a:xfrm>
        </p:spPr>
        <p:txBody>
          <a:bodyPr/>
          <a:lstStyle/>
          <a:p>
            <a:r>
              <a:rPr lang="de-DE" sz="2400" dirty="0"/>
              <a:t>Geplanter Aufbau des EZB-</a:t>
            </a:r>
            <a:r>
              <a:rPr lang="de-DE" sz="2400" dirty="0" err="1"/>
              <a:t>TransparenzMonitors</a:t>
            </a:r>
            <a:r>
              <a:rPr lang="de-DE" sz="2400" dirty="0"/>
              <a:t>: </a:t>
            </a:r>
            <a:r>
              <a:rPr lang="de-DE" sz="2400" dirty="0" smtClean="0"/>
              <a:t>Textanalytische Indikatoren</a:t>
            </a:r>
            <a:endParaRPr lang="de-DE" sz="240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 smtClean="0"/>
              <a:t>Darstellungsform: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/>
              <a:t>Zeitverlauf im Liniendiagramm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/>
              <a:t>Score/Klassifikation der Ratsmitglieder </a:t>
            </a:r>
            <a:r>
              <a:rPr lang="de-DE" dirty="0" smtClean="0">
                <a:sym typeface="Wingdings" panose="05000000000000000000" pitchFamily="2" charset="2"/>
              </a:rPr>
              <a:t> Tabellenform oder  </a:t>
            </a:r>
            <a:endParaRPr lang="de-DE" dirty="0" smtClean="0"/>
          </a:p>
          <a:p>
            <a:pPr marL="457200" indent="-457200">
              <a:buFont typeface="+mj-lt"/>
              <a:buAutoNum type="arabicPeriod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65861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3413" y="620688"/>
            <a:ext cx="8639175" cy="981794"/>
          </a:xfrm>
        </p:spPr>
        <p:txBody>
          <a:bodyPr/>
          <a:lstStyle/>
          <a:p>
            <a:r>
              <a:rPr lang="de-DE" sz="2400" dirty="0"/>
              <a:t>Geplanter Aufbau des </a:t>
            </a:r>
            <a:r>
              <a:rPr lang="de-DE" sz="2400" dirty="0" err="1" smtClean="0"/>
              <a:t>EZB-TransparenzMonitors:Biographische</a:t>
            </a:r>
            <a:r>
              <a:rPr lang="de-DE" sz="2400" dirty="0" smtClean="0"/>
              <a:t> Daten der Ratsmitglieder</a:t>
            </a:r>
            <a:br>
              <a:rPr lang="de-DE" sz="2400" dirty="0" smtClean="0"/>
            </a:br>
            <a:endParaRPr lang="de-DE" sz="240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 smtClean="0"/>
              <a:t>Ziel: Informationen über die Entscheidungsträger der Zinspolitik bereitstellen </a:t>
            </a:r>
            <a:r>
              <a:rPr lang="de-DE" dirty="0" smtClean="0">
                <a:sym typeface="Wingdings" panose="05000000000000000000" pitchFamily="2" charset="2"/>
              </a:rPr>
              <a:t> spielt gewichtige Rolle für die Geldpolitik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r>
              <a:rPr lang="de-DE" dirty="0" smtClean="0">
                <a:sym typeface="Wingdings" panose="05000000000000000000" pitchFamily="2" charset="2"/>
              </a:rPr>
              <a:t>Datenbasis: Recherche von Biographischen Merkmalen (überwiegend abgeschlossen)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r>
              <a:rPr lang="de-DE" dirty="0" smtClean="0">
                <a:sym typeface="Wingdings" panose="05000000000000000000" pitchFamily="2" charset="2"/>
              </a:rPr>
              <a:t>Relevante Merkmale: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>
                <a:sym typeface="Wingdings" panose="05000000000000000000" pitchFamily="2" charset="2"/>
              </a:rPr>
              <a:t>Herkunft, Studium, Geschlecht, Alter und Beruf/Background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>
                <a:sym typeface="Wingdings" panose="05000000000000000000" pitchFamily="2" charset="2"/>
              </a:rPr>
              <a:t>Charakteristika aller Ratsmitglieder seit Euro Gründung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>
              <a:sym typeface="Wingdings" panose="05000000000000000000" pitchFamily="2" charset="2"/>
            </a:endParaRPr>
          </a:p>
          <a:p>
            <a:r>
              <a:rPr lang="de-DE" dirty="0" smtClean="0">
                <a:sym typeface="Wingdings" panose="05000000000000000000" pitchFamily="2" charset="2"/>
              </a:rPr>
              <a:t>Darstellungsform: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>
                <a:sym typeface="Wingdings" panose="05000000000000000000" pitchFamily="2" charset="2"/>
              </a:rPr>
              <a:t>Z.B. Karte oder interaktive Tabelle 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5630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/>
              <a:t>Geplanter Aufbau des </a:t>
            </a:r>
            <a:r>
              <a:rPr lang="de-DE" sz="2800" dirty="0" smtClean="0"/>
              <a:t>EZB-</a:t>
            </a:r>
            <a:r>
              <a:rPr lang="de-DE" sz="2800" dirty="0" err="1" smtClean="0"/>
              <a:t>TransparenzMonitors</a:t>
            </a:r>
            <a:r>
              <a:rPr lang="de-DE" sz="2800" dirty="0" smtClean="0"/>
              <a:t>: Externe Informationen</a:t>
            </a:r>
            <a:endParaRPr lang="de-DE" sz="280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 smtClean="0"/>
              <a:t>Ziel: Leichter Zugang zu den relevantesten Daten für die EZB Rats Entscheidung</a:t>
            </a:r>
          </a:p>
          <a:p>
            <a:endParaRPr lang="de-DE" dirty="0"/>
          </a:p>
          <a:p>
            <a:r>
              <a:rPr lang="de-DE" dirty="0" smtClean="0"/>
              <a:t>Datenbasis: </a:t>
            </a:r>
            <a:r>
              <a:rPr lang="de-DE" dirty="0" err="1" smtClean="0"/>
              <a:t>Eurostat</a:t>
            </a:r>
            <a:r>
              <a:rPr lang="de-DE" dirty="0" smtClean="0"/>
              <a:t> (API verfügbar), EZB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/>
              <a:t>Inflation (Gesamt, nach Mitgliedsland)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/>
              <a:t>Staatsverschuldung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/>
              <a:t>Leitzinsen</a:t>
            </a:r>
          </a:p>
          <a:p>
            <a:endParaRPr lang="de-DE" dirty="0"/>
          </a:p>
          <a:p>
            <a:r>
              <a:rPr lang="de-DE" dirty="0" smtClean="0"/>
              <a:t>Im Antrag: „</a:t>
            </a:r>
            <a:r>
              <a:rPr lang="en-US" dirty="0"/>
              <a:t> </a:t>
            </a:r>
            <a:r>
              <a:rPr lang="en-US" dirty="0" err="1"/>
              <a:t>Beispiele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externen</a:t>
            </a:r>
            <a:r>
              <a:rPr lang="en-US" dirty="0"/>
              <a:t> </a:t>
            </a:r>
            <a:r>
              <a:rPr lang="en-US" dirty="0" err="1"/>
              <a:t>Quellen</a:t>
            </a:r>
            <a:r>
              <a:rPr lang="en-US" dirty="0"/>
              <a:t> </a:t>
            </a:r>
            <a:r>
              <a:rPr lang="en-US" dirty="0" err="1"/>
              <a:t>kompilierte</a:t>
            </a:r>
            <a:r>
              <a:rPr lang="en-US" dirty="0"/>
              <a:t>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Service-</a:t>
            </a:r>
            <a:r>
              <a:rPr lang="en-US" dirty="0" err="1"/>
              <a:t>Charakter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die </a:t>
            </a:r>
            <a:r>
              <a:rPr lang="en-US" dirty="0" err="1"/>
              <a:t>Nutzer</a:t>
            </a:r>
            <a:r>
              <a:rPr lang="en-US" dirty="0"/>
              <a:t> </a:t>
            </a:r>
            <a:r>
              <a:rPr lang="en-US" dirty="0" err="1"/>
              <a:t>betreffen</a:t>
            </a:r>
            <a:r>
              <a:rPr lang="en-US" dirty="0"/>
              <a:t> </a:t>
            </a:r>
            <a:r>
              <a:rPr lang="en-US" dirty="0" err="1"/>
              <a:t>Fakten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den </a:t>
            </a:r>
            <a:r>
              <a:rPr lang="en-US" dirty="0" err="1"/>
              <a:t>anstehenden</a:t>
            </a:r>
            <a:r>
              <a:rPr lang="en-US" dirty="0"/>
              <a:t> </a:t>
            </a:r>
            <a:r>
              <a:rPr lang="en-US" dirty="0" err="1"/>
              <a:t>Terminen</a:t>
            </a:r>
            <a:r>
              <a:rPr lang="en-US" dirty="0"/>
              <a:t> der EZB-</a:t>
            </a:r>
            <a:r>
              <a:rPr lang="en-US" dirty="0" err="1"/>
              <a:t>Sitzungen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geldpolitischen</a:t>
            </a:r>
            <a:r>
              <a:rPr lang="en-US" dirty="0"/>
              <a:t> </a:t>
            </a:r>
            <a:r>
              <a:rPr lang="en-US" dirty="0" err="1"/>
              <a:t>Entscheidungen</a:t>
            </a:r>
            <a:r>
              <a:rPr lang="en-US" dirty="0"/>
              <a:t>, die </a:t>
            </a:r>
            <a:r>
              <a:rPr lang="en-US" dirty="0" err="1"/>
              <a:t>aktuellen</a:t>
            </a:r>
            <a:r>
              <a:rPr lang="en-US" dirty="0"/>
              <a:t> </a:t>
            </a:r>
            <a:r>
              <a:rPr lang="en-US" dirty="0" err="1"/>
              <a:t>Leitzinsen</a:t>
            </a:r>
            <a:r>
              <a:rPr lang="en-US" dirty="0"/>
              <a:t> und </a:t>
            </a:r>
            <a:r>
              <a:rPr lang="en-US" dirty="0" err="1"/>
              <a:t>Ankaufprogramme</a:t>
            </a:r>
            <a:r>
              <a:rPr lang="en-US" dirty="0"/>
              <a:t> </a:t>
            </a:r>
            <a:r>
              <a:rPr lang="en-US" dirty="0" err="1"/>
              <a:t>sowie</a:t>
            </a:r>
            <a:r>
              <a:rPr lang="en-US" dirty="0"/>
              <a:t> Euro-</a:t>
            </a:r>
            <a:r>
              <a:rPr lang="en-US" dirty="0" err="1"/>
              <a:t>Inflationsdaten</a:t>
            </a:r>
            <a:r>
              <a:rPr lang="en-US" dirty="0" smtClean="0"/>
              <a:t>.”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 smtClean="0"/>
          </a:p>
          <a:p>
            <a:r>
              <a:rPr lang="de-DE" dirty="0" smtClean="0"/>
              <a:t>Darstellungsform: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/>
              <a:t>Liniendiagramme, Terminliste,…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4895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Geplanter Aufbau des </a:t>
            </a:r>
            <a:r>
              <a:rPr lang="de-DE" sz="2400" dirty="0" smtClean="0"/>
              <a:t>EZB-</a:t>
            </a:r>
            <a:r>
              <a:rPr lang="de-DE" sz="2400" dirty="0" err="1" smtClean="0"/>
              <a:t>TransparenzMonitors</a:t>
            </a:r>
            <a:r>
              <a:rPr lang="de-DE" sz="2400" dirty="0" smtClean="0"/>
              <a:t>: Stellungnahmen und Forschungsergebnisse</a:t>
            </a:r>
            <a:endParaRPr lang="de-DE" sz="240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 smtClean="0"/>
              <a:t>Ziel: Information zu (unserer) Forschung und wissenschaftliche Expertenstellungnahmen</a:t>
            </a:r>
          </a:p>
          <a:p>
            <a:endParaRPr lang="de-DE" dirty="0"/>
          </a:p>
          <a:p>
            <a:r>
              <a:rPr lang="de-DE" dirty="0" smtClean="0"/>
              <a:t>Datenbasis: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/>
              <a:t>Stiftung Geld und Währung Papiere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/>
              <a:t>Stellungnahmen Friedrich…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indent="-266700"/>
            <a:r>
              <a:rPr lang="de-DE" dirty="0" smtClean="0"/>
              <a:t>Im Antrag: </a:t>
            </a:r>
            <a:r>
              <a:rPr lang="en-US" dirty="0"/>
              <a:t>“</a:t>
            </a:r>
            <a:r>
              <a:rPr lang="en-US" dirty="0" err="1"/>
              <a:t>Außerdem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Stellungnahmen</a:t>
            </a:r>
            <a:r>
              <a:rPr lang="en-US" dirty="0"/>
              <a:t> </a:t>
            </a:r>
            <a:r>
              <a:rPr lang="en-US" dirty="0" err="1"/>
              <a:t>externer</a:t>
            </a:r>
            <a:r>
              <a:rPr lang="en-US" dirty="0"/>
              <a:t> </a:t>
            </a:r>
            <a:r>
              <a:rPr lang="en-US" dirty="0" err="1"/>
              <a:t>Wissenschaftlerinnen</a:t>
            </a:r>
            <a:r>
              <a:rPr lang="en-US" dirty="0"/>
              <a:t> und </a:t>
            </a:r>
            <a:r>
              <a:rPr lang="en-US" dirty="0" err="1"/>
              <a:t>Wissenschaftler</a:t>
            </a:r>
            <a:r>
              <a:rPr lang="en-US" dirty="0"/>
              <a:t> </a:t>
            </a:r>
            <a:r>
              <a:rPr lang="en-US" dirty="0" err="1"/>
              <a:t>vorstellbar</a:t>
            </a:r>
            <a:r>
              <a:rPr lang="en-US" dirty="0" smtClean="0"/>
              <a:t>”;</a:t>
            </a:r>
            <a:r>
              <a:rPr lang="de-DE" dirty="0"/>
              <a:t> </a:t>
            </a:r>
            <a:r>
              <a:rPr lang="en-US" dirty="0" smtClean="0"/>
              <a:t>“</a:t>
            </a:r>
            <a:r>
              <a:rPr lang="en-US" dirty="0" err="1"/>
              <a:t>aktuelle</a:t>
            </a:r>
            <a:r>
              <a:rPr lang="en-US" dirty="0"/>
              <a:t> </a:t>
            </a:r>
            <a:r>
              <a:rPr lang="en-US" dirty="0" err="1"/>
              <a:t>Forschungsergebnisse</a:t>
            </a:r>
            <a:r>
              <a:rPr lang="en-US" dirty="0"/>
              <a:t> </a:t>
            </a:r>
            <a:r>
              <a:rPr lang="en-US" dirty="0" err="1"/>
              <a:t>betreffen</a:t>
            </a:r>
            <a:r>
              <a:rPr lang="en-US" dirty="0"/>
              <a:t> </a:t>
            </a:r>
            <a:r>
              <a:rPr lang="en-US" dirty="0" err="1"/>
              <a:t>eigene</a:t>
            </a:r>
            <a:r>
              <a:rPr lang="en-US" dirty="0"/>
              <a:t> </a:t>
            </a:r>
            <a:r>
              <a:rPr lang="en-US" dirty="0" err="1"/>
              <a:t>Forschung</a:t>
            </a:r>
            <a:r>
              <a:rPr lang="en-US" dirty="0"/>
              <a:t>,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allem</a:t>
            </a:r>
            <a:r>
              <a:rPr lang="en-US" dirty="0"/>
              <a:t> </a:t>
            </a:r>
            <a:r>
              <a:rPr lang="en-US" dirty="0" err="1"/>
              <a:t>Resultate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den in </a:t>
            </a:r>
            <a:r>
              <a:rPr lang="en-US" dirty="0" err="1"/>
              <a:t>diesem</a:t>
            </a:r>
            <a:r>
              <a:rPr lang="en-US" dirty="0"/>
              <a:t> </a:t>
            </a:r>
            <a:r>
              <a:rPr lang="en-US" dirty="0" err="1"/>
              <a:t>Vorhaben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erarbeitenden</a:t>
            </a:r>
            <a:r>
              <a:rPr lang="en-US" dirty="0"/>
              <a:t> </a:t>
            </a:r>
            <a:r>
              <a:rPr lang="en-US" dirty="0" err="1"/>
              <a:t>Papieren</a:t>
            </a:r>
            <a:r>
              <a:rPr lang="en-US" dirty="0"/>
              <a:t> </a:t>
            </a:r>
            <a:r>
              <a:rPr lang="en-US" dirty="0" err="1"/>
              <a:t>sowie</a:t>
            </a:r>
            <a:r>
              <a:rPr lang="en-US" dirty="0"/>
              <a:t> </a:t>
            </a:r>
            <a:r>
              <a:rPr lang="en-US" dirty="0" err="1"/>
              <a:t>ausgewählte</a:t>
            </a:r>
            <a:r>
              <a:rPr lang="en-US" dirty="0"/>
              <a:t> </a:t>
            </a:r>
            <a:r>
              <a:rPr lang="en-US" dirty="0" err="1"/>
              <a:t>externe</a:t>
            </a:r>
            <a:r>
              <a:rPr lang="en-US" dirty="0"/>
              <a:t> </a:t>
            </a:r>
            <a:r>
              <a:rPr lang="en-US" dirty="0" err="1"/>
              <a:t>aktuelle</a:t>
            </a:r>
            <a:r>
              <a:rPr lang="en-US" dirty="0"/>
              <a:t> </a:t>
            </a:r>
            <a:r>
              <a:rPr lang="en-US" dirty="0" err="1"/>
              <a:t>Forschungspapiere</a:t>
            </a:r>
            <a:r>
              <a:rPr lang="en-US" dirty="0"/>
              <a:t>”</a:t>
            </a:r>
            <a:endParaRPr lang="de-DE" dirty="0"/>
          </a:p>
          <a:p>
            <a:endParaRPr lang="de-DE" dirty="0" smtClean="0"/>
          </a:p>
          <a:p>
            <a:r>
              <a:rPr lang="de-DE" dirty="0" smtClean="0"/>
              <a:t>Darstellungsform: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 smtClean="0"/>
              <a:t>Blogform</a:t>
            </a:r>
            <a:r>
              <a:rPr lang="de-DE" dirty="0" smtClean="0"/>
              <a:t> (?)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3166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Geplanter Aufbau des </a:t>
            </a:r>
            <a:r>
              <a:rPr lang="de-DE" sz="2400" dirty="0" smtClean="0"/>
              <a:t>EZB-</a:t>
            </a:r>
            <a:r>
              <a:rPr lang="de-DE" sz="2400" dirty="0" err="1" smtClean="0"/>
              <a:t>TransparenzMonitors</a:t>
            </a:r>
            <a:r>
              <a:rPr lang="de-DE" sz="2400" dirty="0" smtClean="0"/>
              <a:t>: Feedback</a:t>
            </a:r>
            <a:endParaRPr lang="de-DE" sz="240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 smtClean="0"/>
              <a:t>Fragen: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smtClean="0"/>
              <a:t>Fehlen noch wichtige Aspekte?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smtClean="0"/>
              <a:t>Sind die angebotenen Informationen hilfreich für unsere Zielgruppe? Was kann verbessert werden?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smtClean="0"/>
              <a:t>Ist die Webseite auf der inhaltlichen Ebene in einem angemessenen Zeitrahmen umsetzbar?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6647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Kommunikationsstrategie 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 smtClean="0"/>
              <a:t>Frage: Wie kann der EZB Monitor in die ZEW Kommunikation aufgenommen werden?</a:t>
            </a:r>
          </a:p>
          <a:p>
            <a:endParaRPr lang="de-DE" dirty="0"/>
          </a:p>
          <a:p>
            <a:r>
              <a:rPr lang="de-DE" dirty="0"/>
              <a:t>Im Antrag: „ - Die ZEW-Kommunikationsabteilung betreibt eine umfassende </a:t>
            </a:r>
            <a:r>
              <a:rPr lang="de-DE" dirty="0" err="1"/>
              <a:t>Social</a:t>
            </a:r>
            <a:r>
              <a:rPr lang="de-DE" dirty="0"/>
              <a:t>-Media-Strategie (X/Twitter, LinkedIn). Wichtige Aktualisierungen des EZB-Transparenz-Monitors werden über Projektantrag: Die Rolle der Fiskalpolitik für geldpolitische Entscheidungen – Seite 21 diese ZEW-</a:t>
            </a:r>
            <a:r>
              <a:rPr lang="de-DE" dirty="0" err="1"/>
              <a:t>Social</a:t>
            </a:r>
            <a:r>
              <a:rPr lang="de-DE" dirty="0"/>
              <a:t>-Media-Kanäle (und die des Projektteams) verbreitet, um Zugriffe auf den Monitor zu lenken</a:t>
            </a:r>
            <a:r>
              <a:rPr lang="de-DE" dirty="0" smtClean="0"/>
              <a:t>.“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9615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3413" y="763588"/>
            <a:ext cx="8639175" cy="505172"/>
          </a:xfrm>
        </p:spPr>
        <p:txBody>
          <a:bodyPr/>
          <a:lstStyle/>
          <a:p>
            <a:r>
              <a:rPr lang="de-DE" dirty="0" smtClean="0"/>
              <a:t>Technische Voraussetzungen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>
          <a:xfrm>
            <a:off x="633412" y="1664741"/>
            <a:ext cx="8639175" cy="4392613"/>
          </a:xfrm>
        </p:spPr>
        <p:txBody>
          <a:bodyPr/>
          <a:lstStyle/>
          <a:p>
            <a:r>
              <a:rPr lang="de-DE" dirty="0" smtClean="0"/>
              <a:t>Fragestellung:</a:t>
            </a:r>
            <a:endParaRPr lang="de-DE" dirty="0"/>
          </a:p>
          <a:p>
            <a:r>
              <a:rPr lang="de-DE" dirty="0" smtClean="0"/>
              <a:t>Wie können wir mit niedrigem Aufwand aktuelle Informationen liefern? (Makroindikatoren, Reden)</a:t>
            </a:r>
          </a:p>
          <a:p>
            <a:endParaRPr lang="de-DE" dirty="0"/>
          </a:p>
          <a:p>
            <a:pPr marL="457200" indent="-457200">
              <a:buAutoNum type="arabicPeriod"/>
            </a:pPr>
            <a:r>
              <a:rPr lang="de-DE" dirty="0" smtClean="0"/>
              <a:t>BIS Reden</a:t>
            </a:r>
          </a:p>
          <a:p>
            <a:pPr marL="906463" lvl="1" indent="-457200">
              <a:buAutoNum type="arabicPeriod"/>
            </a:pPr>
            <a:r>
              <a:rPr lang="de-DE" dirty="0">
                <a:hlinkClick r:id="rId2"/>
              </a:rPr>
              <a:t>https://</a:t>
            </a:r>
            <a:r>
              <a:rPr lang="de-DE" dirty="0" smtClean="0">
                <a:hlinkClick r:id="rId2"/>
              </a:rPr>
              <a:t>www.bis.org/cbspeeches/download.htm</a:t>
            </a:r>
            <a:r>
              <a:rPr lang="de-DE" dirty="0" smtClean="0"/>
              <a:t> gesamten Corpus downloaden</a:t>
            </a:r>
          </a:p>
          <a:p>
            <a:pPr marL="906463" lvl="1" indent="-457200">
              <a:buAutoNum type="arabicPeriod"/>
            </a:pPr>
            <a:r>
              <a:rPr lang="de-DE" dirty="0" smtClean="0"/>
              <a:t>API Zugang und regelmäßiger </a:t>
            </a:r>
            <a:r>
              <a:rPr lang="de-DE" dirty="0" err="1" smtClean="0"/>
              <a:t>download</a:t>
            </a:r>
            <a:r>
              <a:rPr lang="de-DE" dirty="0"/>
              <a:t> (</a:t>
            </a:r>
            <a:r>
              <a:rPr lang="de-DE" dirty="0">
                <a:hlinkClick r:id="rId3"/>
              </a:rPr>
              <a:t>https://bis-med-it.github.io/gingado</a:t>
            </a:r>
            <a:r>
              <a:rPr lang="de-DE" dirty="0" smtClean="0">
                <a:hlinkClick r:id="rId3"/>
              </a:rPr>
              <a:t>/</a:t>
            </a:r>
            <a:r>
              <a:rPr lang="de-DE" dirty="0" smtClean="0"/>
              <a:t> </a:t>
            </a:r>
            <a:r>
              <a:rPr lang="de-DE" dirty="0" smtClean="0">
                <a:sym typeface="Wingdings" panose="05000000000000000000" pitchFamily="2" charset="2"/>
              </a:rPr>
              <a:t> eigene BIS </a:t>
            </a:r>
            <a:r>
              <a:rPr lang="de-DE" dirty="0" err="1" smtClean="0">
                <a:sym typeface="Wingdings" panose="05000000000000000000" pitchFamily="2" charset="2"/>
              </a:rPr>
              <a:t>machine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learning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python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package</a:t>
            </a:r>
            <a:r>
              <a:rPr lang="de-DE" dirty="0" smtClean="0">
                <a:sym typeface="Wingdings" panose="05000000000000000000" pitchFamily="2" charset="2"/>
              </a:rPr>
              <a:t> &amp; API)</a:t>
            </a:r>
          </a:p>
          <a:p>
            <a:pPr marL="457200" indent="-457200">
              <a:buAutoNum type="arabicPeriod"/>
            </a:pPr>
            <a:r>
              <a:rPr lang="de-DE" dirty="0" smtClean="0">
                <a:sym typeface="Wingdings" panose="05000000000000000000" pitchFamily="2" charset="2"/>
              </a:rPr>
              <a:t>Makroindikatoren</a:t>
            </a:r>
          </a:p>
          <a:p>
            <a:pPr marL="906463" lvl="1" indent="-457200">
              <a:buAutoNum type="arabicPeriod"/>
            </a:pPr>
            <a:r>
              <a:rPr lang="de-DE" dirty="0" err="1" smtClean="0">
                <a:sym typeface="Wingdings" panose="05000000000000000000" pitchFamily="2" charset="2"/>
              </a:rPr>
              <a:t>Eurostat</a:t>
            </a:r>
            <a:r>
              <a:rPr lang="de-DE" dirty="0" smtClean="0">
                <a:sym typeface="Wingdings" panose="05000000000000000000" pitchFamily="2" charset="2"/>
              </a:rPr>
              <a:t> API </a:t>
            </a:r>
            <a:r>
              <a:rPr lang="de-DE" dirty="0">
                <a:sym typeface="Wingdings" panose="05000000000000000000" pitchFamily="2" charset="2"/>
              </a:rPr>
              <a:t>(</a:t>
            </a:r>
            <a:r>
              <a:rPr lang="de-DE" dirty="0">
                <a:sym typeface="Wingdings" panose="05000000000000000000" pitchFamily="2" charset="2"/>
                <a:hlinkClick r:id="rId4"/>
              </a:rPr>
              <a:t>https://</a:t>
            </a:r>
            <a:r>
              <a:rPr lang="de-DE" dirty="0" smtClean="0">
                <a:sym typeface="Wingdings" panose="05000000000000000000" pitchFamily="2" charset="2"/>
                <a:hlinkClick r:id="rId4"/>
              </a:rPr>
              <a:t>ec.europa.eu/eurostat/web/user-guides/data-browser/api-data-access/api-getting-started</a:t>
            </a:r>
            <a:r>
              <a:rPr lang="de-DE" dirty="0" smtClean="0">
                <a:sym typeface="Wingdings" panose="05000000000000000000" pitchFamily="2" charset="2"/>
              </a:rPr>
              <a:t>) oder regelmäßiger Download?</a:t>
            </a:r>
          </a:p>
          <a:p>
            <a:pPr marL="906463" lvl="1" indent="-457200">
              <a:buAutoNum type="arabicPeriod"/>
            </a:pPr>
            <a:r>
              <a:rPr lang="de-DE" dirty="0">
                <a:sym typeface="Wingdings" panose="05000000000000000000" pitchFamily="2" charset="2"/>
              </a:rPr>
              <a:t>ECB API (https://</a:t>
            </a:r>
            <a:r>
              <a:rPr lang="de-DE" dirty="0" smtClean="0">
                <a:sym typeface="Wingdings" panose="05000000000000000000" pitchFamily="2" charset="2"/>
              </a:rPr>
              <a:t>data.ecb.europa.eu/help/api/overview)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7947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Weitere Ideen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/>
              <a:t>Kontaktformular </a:t>
            </a:r>
            <a:r>
              <a:rPr lang="de-DE" dirty="0" smtClean="0">
                <a:sym typeface="Wingdings" panose="05000000000000000000" pitchFamily="2" charset="2"/>
              </a:rPr>
              <a:t> Kontaktmöglichkeit wenn Fehler oder Verbesserungsvorschläge aufkommen</a:t>
            </a:r>
            <a:endParaRPr lang="de-DE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/>
              <a:t>Datensatz über Biographien vorheriger Kandidaten </a:t>
            </a:r>
            <a:r>
              <a:rPr lang="de-DE" dirty="0" smtClean="0">
                <a:sym typeface="Wingdings" panose="05000000000000000000" pitchFamily="2" charset="2"/>
              </a:rPr>
              <a:t> Daten haben wir sowieso gesammelt  Entwicklung der EZB </a:t>
            </a:r>
            <a:r>
              <a:rPr lang="de-DE" dirty="0" err="1" smtClean="0">
                <a:sym typeface="Wingdings" panose="05000000000000000000" pitchFamily="2" charset="2"/>
              </a:rPr>
              <a:t>nachvollziebarer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>
                <a:sym typeface="Wingdings" panose="05000000000000000000" pitchFamily="2" charset="2"/>
              </a:rPr>
              <a:t>Qualitative Einordnungen (Commerzbank, </a:t>
            </a:r>
            <a:r>
              <a:rPr lang="de-DE" dirty="0" err="1" smtClean="0">
                <a:sym typeface="Wingdings" panose="05000000000000000000" pitchFamily="2" charset="2"/>
              </a:rPr>
              <a:t>econstream</a:t>
            </a:r>
            <a:r>
              <a:rPr lang="de-DE" dirty="0" smtClean="0">
                <a:sym typeface="Wingdings" panose="05000000000000000000" pitchFamily="2" charset="2"/>
              </a:rPr>
              <a:t>) um </a:t>
            </a:r>
            <a:r>
              <a:rPr lang="de-DE" dirty="0" err="1" smtClean="0">
                <a:sym typeface="Wingdings" panose="05000000000000000000" pitchFamily="2" charset="2"/>
              </a:rPr>
              <a:t>performance</a:t>
            </a:r>
            <a:r>
              <a:rPr lang="de-DE" dirty="0" smtClean="0">
                <a:sym typeface="Wingdings" panose="05000000000000000000" pitchFamily="2" charset="2"/>
              </a:rPr>
              <a:t> der </a:t>
            </a:r>
            <a:r>
              <a:rPr lang="de-DE" dirty="0" err="1" smtClean="0">
                <a:sym typeface="Wingdings" panose="05000000000000000000" pitchFamily="2" charset="2"/>
              </a:rPr>
              <a:t>hawkish</a:t>
            </a:r>
            <a:r>
              <a:rPr lang="de-DE" dirty="0" smtClean="0">
                <a:sym typeface="Wingdings" panose="05000000000000000000" pitchFamily="2" charset="2"/>
              </a:rPr>
              <a:t>/</a:t>
            </a:r>
            <a:r>
              <a:rPr lang="de-DE" dirty="0" err="1" smtClean="0">
                <a:sym typeface="Wingdings" panose="05000000000000000000" pitchFamily="2" charset="2"/>
              </a:rPr>
              <a:t>dovish</a:t>
            </a:r>
            <a:r>
              <a:rPr lang="de-DE" dirty="0" smtClean="0">
                <a:sym typeface="Wingdings" panose="05000000000000000000" pitchFamily="2" charset="2"/>
              </a:rPr>
              <a:t> </a:t>
            </a:r>
            <a:r>
              <a:rPr lang="de-DE" dirty="0" err="1" smtClean="0">
                <a:sym typeface="Wingdings" panose="05000000000000000000" pitchFamily="2" charset="2"/>
              </a:rPr>
              <a:t>classification</a:t>
            </a:r>
            <a:r>
              <a:rPr lang="de-DE" dirty="0" smtClean="0">
                <a:sym typeface="Wingdings" panose="05000000000000000000" pitchFamily="2" charset="2"/>
              </a:rPr>
              <a:t> zu messen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8107024"/>
      </p:ext>
    </p:extLst>
  </p:cSld>
  <p:clrMapOvr>
    <a:masterClrMapping/>
  </p:clrMapOvr>
</p:sld>
</file>

<file path=ppt/theme/theme1.xml><?xml version="1.0" encoding="utf-8"?>
<a:theme xmlns:a="http://schemas.openxmlformats.org/drawingml/2006/main" name="ZEW Master">
  <a:themeElements>
    <a:clrScheme name="Benutzerdefiniert 2">
      <a:dk1>
        <a:srgbClr val="000000"/>
      </a:dk1>
      <a:lt1>
        <a:sysClr val="window" lastClr="FFFFFF"/>
      </a:lt1>
      <a:dk2>
        <a:srgbClr val="000000"/>
      </a:dk2>
      <a:lt2>
        <a:srgbClr val="505050"/>
      </a:lt2>
      <a:accent1>
        <a:srgbClr val="B4BE28"/>
      </a:accent1>
      <a:accent2>
        <a:srgbClr val="527DA4"/>
      </a:accent2>
      <a:accent3>
        <a:srgbClr val="9C2424"/>
      </a:accent3>
      <a:accent4>
        <a:srgbClr val="C7A92F"/>
      </a:accent4>
      <a:accent5>
        <a:srgbClr val="958C47"/>
      </a:accent5>
      <a:accent6>
        <a:srgbClr val="F79646"/>
      </a:accent6>
      <a:hlink>
        <a:srgbClr val="527DA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accent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953</Words>
  <Application>Microsoft Office PowerPoint</Application>
  <PresentationFormat>A4-Papier (210x297 mm)</PresentationFormat>
  <Paragraphs>161</Paragraphs>
  <Slides>18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Arial</vt:lpstr>
      <vt:lpstr>Calibri</vt:lpstr>
      <vt:lpstr>Symbol</vt:lpstr>
      <vt:lpstr>Wingdings</vt:lpstr>
      <vt:lpstr>ZEW Master</vt:lpstr>
      <vt:lpstr> EZB-TransparenzMonitor – Interner Workshop</vt:lpstr>
      <vt:lpstr>Struktur Workshop</vt:lpstr>
      <vt:lpstr>Motivation</vt:lpstr>
      <vt:lpstr>Empirische Evidenz zur Behauptung Diskurs stark von Zentralbanke geprägt</vt:lpstr>
      <vt:lpstr>Einführung: EZB TransparenzMonitor</vt:lpstr>
      <vt:lpstr>ZielGruppe</vt:lpstr>
      <vt:lpstr>Marktanalyse: Welche Webseiten Gibt es zur Einordnung der EZB Ratsmitglieder?</vt:lpstr>
      <vt:lpstr>Marktanalyse – Econstream</vt:lpstr>
      <vt:lpstr>Geplanter Aufbau des EZB-TransparenzMonitors: Generell</vt:lpstr>
      <vt:lpstr>Geplanter Aufbau des EZB-TransparenzMonitors: Textanalytische Indikatoren</vt:lpstr>
      <vt:lpstr>Geplanter Aufbau des EZB-TransparenzMonitors: Textanalytische Indikatoren</vt:lpstr>
      <vt:lpstr>Geplanter Aufbau des EZB-TransparenzMonitors:Biographische Daten der Ratsmitglieder </vt:lpstr>
      <vt:lpstr>Geplanter Aufbau des EZB-TransparenzMonitors: Externe Informationen</vt:lpstr>
      <vt:lpstr>Geplanter Aufbau des EZB-TransparenzMonitors: Stellungnahmen und Forschungsergebnisse</vt:lpstr>
      <vt:lpstr>Geplanter Aufbau des EZB-TransparenzMonitors: Feedback</vt:lpstr>
      <vt:lpstr>Kommunikationsstrategie </vt:lpstr>
      <vt:lpstr>Technische Voraussetzungen</vt:lpstr>
      <vt:lpstr>Weitere Ideen</vt:lpstr>
    </vt:vector>
  </TitlesOfParts>
  <Manager>Dominik Rehse</Manager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Zentrum für Europäische  Wirtschaftsforschung GmbH (ZEW) Mannheim | Centre for European Economic Research</dc:title>
  <dc:creator>Dominik Rehse</dc:creator>
  <cp:lastModifiedBy>Kemper, Jan</cp:lastModifiedBy>
  <cp:revision>878</cp:revision>
  <cp:lastPrinted>2019-12-10T08:56:58Z</cp:lastPrinted>
  <dcterms:created xsi:type="dcterms:W3CDTF">2014-05-15T09:20:27Z</dcterms:created>
  <dcterms:modified xsi:type="dcterms:W3CDTF">2025-05-07T12:47:07Z</dcterms:modified>
</cp:coreProperties>
</file>