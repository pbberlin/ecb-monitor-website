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39" r:id="rId2"/>
    <p:sldId id="1404" r:id="rId3"/>
    <p:sldId id="1466" r:id="rId4"/>
    <p:sldId id="1479" r:id="rId5"/>
    <p:sldId id="1471" r:id="rId6"/>
    <p:sldId id="1480" r:id="rId7"/>
    <p:sldId id="1496" r:id="rId8"/>
    <p:sldId id="1469" r:id="rId9"/>
    <p:sldId id="1473" r:id="rId10"/>
    <p:sldId id="1487" r:id="rId11"/>
    <p:sldId id="1488" r:id="rId12"/>
    <p:sldId id="1499" r:id="rId13"/>
    <p:sldId id="1498" r:id="rId14"/>
    <p:sldId id="1475" r:id="rId15"/>
  </p:sldIdLst>
  <p:sldSz cx="9906000" cy="6858000" type="A4"/>
  <p:notesSz cx="6669088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orient="horz" pos="754" userDrawn="1">
          <p15:clr>
            <a:srgbClr val="A4A3A4"/>
          </p15:clr>
        </p15:guide>
        <p15:guide id="3" orient="horz" pos="1207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  <p15:guide id="5" orient="horz" pos="1706" userDrawn="1">
          <p15:clr>
            <a:srgbClr val="A4A3A4"/>
          </p15:clr>
        </p15:guide>
        <p15:guide id="6" pos="6068" userDrawn="1">
          <p15:clr>
            <a:srgbClr val="A4A3A4"/>
          </p15:clr>
        </p15:guide>
        <p15:guide id="7" pos="172" userDrawn="1">
          <p15:clr>
            <a:srgbClr val="A4A3A4"/>
          </p15:clr>
        </p15:guide>
        <p15:guide id="8" pos="40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am" initials="f" lastIdx="2" clrIdx="0"/>
  <p:cmAuthor id="1" name="Microsoft" initials="M" lastIdx="5" clrIdx="1"/>
  <p:cmAuthor id="2" name="Sarah-Esther Ciaglia" initials="SC" lastIdx="1" clrIdx="2">
    <p:extLst>
      <p:ext uri="{19B8F6BF-5375-455C-9EA6-DF929625EA0E}">
        <p15:presenceInfo xmlns:p15="http://schemas.microsoft.com/office/powerpoint/2012/main" userId="S-1-5-21-3463609259-212226432-2349557979-4741" providerId="AD"/>
      </p:ext>
    </p:extLst>
  </p:cmAuthor>
  <p:cmAuthor id="3" name="Friedrich Heinemann" initials="FHE" lastIdx="1" clrIdx="3">
    <p:extLst>
      <p:ext uri="{19B8F6BF-5375-455C-9EA6-DF929625EA0E}">
        <p15:presenceInfo xmlns:p15="http://schemas.microsoft.com/office/powerpoint/2012/main" userId="Friedrich Heinemann" providerId="None"/>
      </p:ext>
    </p:extLst>
  </p:cmAuthor>
  <p:cmAuthor id="4" name="Kemper, Jan" initials="KJ" lastIdx="1" clrIdx="4">
    <p:extLst>
      <p:ext uri="{19B8F6BF-5375-455C-9EA6-DF929625EA0E}">
        <p15:presenceInfo xmlns:p15="http://schemas.microsoft.com/office/powerpoint/2012/main" userId="S-1-5-21-3463609259-212226432-2349557979-830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BE28"/>
    <a:srgbClr val="009900"/>
    <a:srgbClr val="9C2438"/>
    <a:srgbClr val="527DA4"/>
    <a:srgbClr val="C7A9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573" autoAdjust="0"/>
    <p:restoredTop sz="86381" autoAdjust="0"/>
  </p:normalViewPr>
  <p:slideViewPr>
    <p:cSldViewPr snapToObjects="1">
      <p:cViewPr varScale="1">
        <p:scale>
          <a:sx n="96" d="100"/>
          <a:sy n="96" d="100"/>
        </p:scale>
        <p:origin x="1254" y="84"/>
      </p:cViewPr>
      <p:guideLst>
        <p:guide orient="horz" pos="346"/>
        <p:guide orient="horz" pos="754"/>
        <p:guide orient="horz" pos="1207"/>
        <p:guide orient="horz" pos="4110"/>
        <p:guide orient="horz" pos="1706"/>
        <p:guide pos="6068"/>
        <p:guide pos="172"/>
        <p:guide pos="40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>
      <p:cViewPr varScale="1">
        <p:scale>
          <a:sx n="68" d="100"/>
          <a:sy n="68" d="100"/>
        </p:scale>
        <p:origin x="3067" y="67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777608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r">
              <a:defRPr sz="1100"/>
            </a:lvl1pPr>
          </a:lstStyle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777608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r">
              <a:defRPr sz="1100"/>
            </a:lvl1pPr>
          </a:lstStyle>
          <a:p>
            <a:fld id="{7F7E0C50-4D70-8F4B-B7EF-9539930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6094582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777608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r">
              <a:defRPr sz="1100"/>
            </a:lvl1pPr>
          </a:lstStyle>
          <a:p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744538"/>
            <a:ext cx="537686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22" tIns="45361" rIns="90722" bIns="45361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66909" y="4715155"/>
            <a:ext cx="5335270" cy="4466987"/>
          </a:xfrm>
          <a:prstGeom prst="rect">
            <a:avLst/>
          </a:prstGeom>
        </p:spPr>
        <p:txBody>
          <a:bodyPr vert="horz" lIns="90722" tIns="45361" rIns="90722" bIns="45361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777608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r">
              <a:defRPr sz="1100"/>
            </a:lvl1pPr>
          </a:lstStyle>
          <a:p>
            <a:fld id="{CF1E3524-81C1-473B-AE0F-697B830EC5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8750302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6239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 smtClean="0"/>
              <a:t>Whatever</a:t>
            </a:r>
            <a:r>
              <a:rPr lang="de-DE" dirty="0" smtClean="0"/>
              <a:t> </a:t>
            </a:r>
            <a:r>
              <a:rPr lang="de-DE" dirty="0" err="1" smtClean="0"/>
              <a:t>it</a:t>
            </a:r>
            <a:r>
              <a:rPr lang="de-DE" dirty="0" smtClean="0"/>
              <a:t> </a:t>
            </a:r>
            <a:r>
              <a:rPr lang="de-DE" dirty="0" err="1" smtClean="0"/>
              <a:t>takes</a:t>
            </a:r>
            <a:r>
              <a:rPr lang="de-DE" dirty="0" smtClean="0"/>
              <a:t> – PEPP</a:t>
            </a:r>
            <a:r>
              <a:rPr lang="de-DE" baseline="0" dirty="0" smtClean="0"/>
              <a:t> – TPI – </a:t>
            </a:r>
            <a:r>
              <a:rPr lang="de-DE" baseline="0" dirty="0" err="1" smtClean="0"/>
              <a:t>Structural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asset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portfolio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9117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 smtClean="0"/>
              <a:t>Here</a:t>
            </a:r>
            <a:r>
              <a:rPr lang="de-DE" dirty="0" smtClean="0"/>
              <a:t> </a:t>
            </a:r>
            <a:r>
              <a:rPr lang="de-DE" dirty="0" err="1" smtClean="0"/>
              <a:t>we</a:t>
            </a:r>
            <a:r>
              <a:rPr lang="de-DE" dirty="0" smtClean="0"/>
              <a:t> follow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literature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0200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:\Wegweiser\Medien\ZEW_Logo\ZEW Logo Farbe\ZEW-Logo_ohne Schriftzug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288" y="5877272"/>
            <a:ext cx="1320006" cy="44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:\WW\Hiwis_und_Praktikanten\Konstantin\Musterpräsentation\LogoLeibniz_Farbe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014" y="5845075"/>
            <a:ext cx="876573" cy="59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800000" y="1080000"/>
            <a:ext cx="6833964" cy="1484904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de-DE" sz="48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Hier steht der Titel der Präsentation</a:t>
            </a:r>
            <a:endParaRPr kumimoji="0" lang="de-DE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1800000" y="3735703"/>
            <a:ext cx="5903912" cy="36326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kern="1200" cap="none" spc="0" normalizeH="0" baseline="0" noProof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Anlass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weiterer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Titel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800000" y="2679128"/>
            <a:ext cx="5905500" cy="36021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Prof. Dr. XXX</a:t>
            </a:r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800000" y="3015623"/>
            <a:ext cx="5905500" cy="36021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DD.MM.YYYY</a:t>
            </a:r>
          </a:p>
        </p:txBody>
      </p:sp>
    </p:spTree>
    <p:extLst>
      <p:ext uri="{BB962C8B-B14F-4D97-AF65-F5344CB8AC3E}">
        <p14:creationId xmlns:p14="http://schemas.microsoft.com/office/powerpoint/2010/main" val="269183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zeiliger Titel, 1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73050" y="620688"/>
            <a:ext cx="9359900" cy="548184"/>
          </a:xfrm>
          <a:prstGeom prst="rect">
            <a:avLst/>
          </a:prstGeom>
        </p:spPr>
        <p:txBody>
          <a:bodyPr lIns="90000" tIns="36000" rIns="90000" bIns="36000"/>
          <a:lstStyle>
            <a:lvl1pPr>
              <a:defRPr sz="2100" cap="none"/>
            </a:lvl1pPr>
          </a:lstStyle>
          <a:p>
            <a:endParaRPr lang="de-DE" dirty="0"/>
          </a:p>
        </p:txBody>
      </p:sp>
      <p:pic>
        <p:nvPicPr>
          <p:cNvPr id="6" name="Bild 5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66136" y="6551402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2771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 userDrawn="1">
          <p15:clr>
            <a:srgbClr val="FBAE40"/>
          </p15:clr>
        </p15:guide>
        <p15:guide id="2" pos="60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zeiliger Titel, 1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/>
          <p:cNvSpPr>
            <a:spLocks noGrp="1"/>
          </p:cNvSpPr>
          <p:nvPr>
            <p:ph type="dt" sz="half" idx="2"/>
          </p:nvPr>
        </p:nvSpPr>
        <p:spPr>
          <a:xfrm>
            <a:off x="63360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9600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633413" y="763588"/>
            <a:ext cx="8639175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15" name="Inhaltsplatzhalter 9"/>
          <p:cNvSpPr>
            <a:spLocks noGrp="1"/>
          </p:cNvSpPr>
          <p:nvPr>
            <p:ph sz="quarter" idx="10"/>
          </p:nvPr>
        </p:nvSpPr>
        <p:spPr>
          <a:xfrm>
            <a:off x="633600" y="1917700"/>
            <a:ext cx="8639175" cy="43926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endParaRPr lang="de-DE" dirty="0"/>
          </a:p>
        </p:txBody>
      </p:sp>
      <p:pic>
        <p:nvPicPr>
          <p:cNvPr id="16" name="Bild 15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zeiliger Titel, 2 Spalte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"/>
          <p:cNvSpPr>
            <a:spLocks noGrp="1"/>
          </p:cNvSpPr>
          <p:nvPr>
            <p:ph type="title"/>
          </p:nvPr>
        </p:nvSpPr>
        <p:spPr>
          <a:xfrm>
            <a:off x="632520" y="764704"/>
            <a:ext cx="8640068" cy="549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9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19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1211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0"/>
          </p:nvPr>
        </p:nvSpPr>
        <p:spPr>
          <a:xfrm>
            <a:off x="633600" y="1485901"/>
            <a:ext cx="4089275" cy="482441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  <p:pic>
        <p:nvPicPr>
          <p:cNvPr id="13" name="Bild 12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9" name="Inhaltsplatzhalter 2"/>
          <p:cNvSpPr>
            <a:spLocks noGrp="1"/>
          </p:cNvSpPr>
          <p:nvPr>
            <p:ph sz="quarter" idx="11"/>
          </p:nvPr>
        </p:nvSpPr>
        <p:spPr>
          <a:xfrm>
            <a:off x="5173245" y="1485901"/>
            <a:ext cx="4089275" cy="482441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039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zeiliger Titel, 2 Spalte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3003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3" name="Titel 1"/>
          <p:cNvSpPr>
            <a:spLocks noGrp="1"/>
          </p:cNvSpPr>
          <p:nvPr>
            <p:ph type="title" hasCustomPrompt="1"/>
          </p:nvPr>
        </p:nvSpPr>
        <p:spPr>
          <a:xfrm>
            <a:off x="632573" y="763588"/>
            <a:ext cx="8640907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9" name="Bild 8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10" name="Inhaltsplatzhalter 2"/>
          <p:cNvSpPr>
            <a:spLocks noGrp="1"/>
          </p:cNvSpPr>
          <p:nvPr>
            <p:ph sz="quarter" idx="10"/>
          </p:nvPr>
        </p:nvSpPr>
        <p:spPr>
          <a:xfrm>
            <a:off x="633600" y="1917700"/>
            <a:ext cx="4089275" cy="43926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1" name="Inhaltsplatzhalter 2"/>
          <p:cNvSpPr>
            <a:spLocks noGrp="1"/>
          </p:cNvSpPr>
          <p:nvPr>
            <p:ph sz="quarter" idx="11"/>
          </p:nvPr>
        </p:nvSpPr>
        <p:spPr>
          <a:xfrm>
            <a:off x="5182041" y="1917700"/>
            <a:ext cx="4089275" cy="43926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211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zeiliger Titel,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2"/>
          <p:cNvSpPr>
            <a:spLocks noGrp="1"/>
          </p:cNvSpPr>
          <p:nvPr>
            <p:ph idx="13"/>
          </p:nvPr>
        </p:nvSpPr>
        <p:spPr>
          <a:xfrm>
            <a:off x="633600" y="1917700"/>
            <a:ext cx="8638988" cy="43926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  <a:defRPr b="0" i="0"/>
            </a:lvl1pPr>
            <a:lvl2pPr marL="342000" indent="0">
              <a:lnSpc>
                <a:spcPts val="2000"/>
              </a:lnSpc>
              <a:spcBef>
                <a:spcPts val="100"/>
              </a:spcBef>
              <a:buFontTx/>
              <a:buNone/>
              <a:defRPr/>
            </a:lvl2pPr>
            <a:lvl3pPr marL="180000" indent="0">
              <a:buFontTx/>
              <a:buNone/>
              <a:defRPr/>
            </a:lvl3pPr>
          </a:lstStyle>
          <a:p>
            <a:pPr lvl="0"/>
            <a:endParaRPr lang="de-DE" dirty="0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625211" y="763588"/>
            <a:ext cx="8623717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13" name="Bild 12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liederungseben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33413" y="1917701"/>
            <a:ext cx="8639175" cy="4392612"/>
          </a:xfrm>
          <a:prstGeom prst="rect">
            <a:avLst/>
          </a:prstGeom>
        </p:spPr>
        <p:txBody>
          <a:bodyPr lIns="0" tIns="0" rIns="0" bIns="0"/>
          <a:lstStyle>
            <a:lvl1pPr>
              <a:defRPr lang="de-DE" b="0" i="0" dirty="0" smtClean="0"/>
            </a:lvl1pPr>
          </a:lstStyle>
          <a:p>
            <a:pPr marL="0" lv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</a:pPr>
            <a:endParaRPr lang="de-DE" dirty="0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"/>
          <p:cNvSpPr>
            <a:spLocks noGrp="1"/>
          </p:cNvSpPr>
          <p:nvPr>
            <p:ph type="title" hasCustomPrompt="1"/>
          </p:nvPr>
        </p:nvSpPr>
        <p:spPr>
          <a:xfrm>
            <a:off x="625024" y="759417"/>
            <a:ext cx="8639175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8" name="Bild 7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37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Gliederungsebe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Titel 1"/>
          <p:cNvSpPr>
            <a:spLocks noGrp="1"/>
          </p:cNvSpPr>
          <p:nvPr>
            <p:ph type="title" hasCustomPrompt="1"/>
          </p:nvPr>
        </p:nvSpPr>
        <p:spPr>
          <a:xfrm>
            <a:off x="625024" y="763588"/>
            <a:ext cx="8639175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8" name="Bild 7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>
          <a:xfrm>
            <a:off x="633414" y="1917701"/>
            <a:ext cx="8639174" cy="4392612"/>
          </a:xfrm>
          <a:prstGeom prst="rect">
            <a:avLst/>
          </a:prstGeom>
        </p:spPr>
        <p:txBody>
          <a:bodyPr lIns="0" tIns="0" rIns="0" bIns="0"/>
          <a:lstStyle>
            <a:lvl1pPr>
              <a:defRPr lang="de-DE" b="0" i="0" dirty="0"/>
            </a:lvl1pPr>
          </a:lstStyle>
          <a:p>
            <a:pPr marL="0" lv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4692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Text mit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umsplatzhalter 3"/>
          <p:cNvSpPr>
            <a:spLocks noGrp="1"/>
          </p:cNvSpPr>
          <p:nvPr>
            <p:ph type="dt" sz="half" idx="2"/>
          </p:nvPr>
        </p:nvSpPr>
        <p:spPr>
          <a:xfrm>
            <a:off x="63360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1123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2" name="Titel 1"/>
          <p:cNvSpPr>
            <a:spLocks noGrp="1"/>
          </p:cNvSpPr>
          <p:nvPr>
            <p:ph type="title"/>
          </p:nvPr>
        </p:nvSpPr>
        <p:spPr>
          <a:xfrm>
            <a:off x="625024" y="764704"/>
            <a:ext cx="8639175" cy="549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bearbeiten</a:t>
            </a:r>
          </a:p>
        </p:txBody>
      </p:sp>
      <p:pic>
        <p:nvPicPr>
          <p:cNvPr id="15" name="Bild 14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3" name="Inhaltsplatzhalter 2"/>
          <p:cNvSpPr>
            <a:spLocks noGrp="1"/>
          </p:cNvSpPr>
          <p:nvPr>
            <p:ph sz="quarter" idx="10"/>
          </p:nvPr>
        </p:nvSpPr>
        <p:spPr>
          <a:xfrm>
            <a:off x="633414" y="1485900"/>
            <a:ext cx="8639174" cy="4824413"/>
          </a:xfrm>
          <a:prstGeom prst="rect">
            <a:avLst/>
          </a:prstGeom>
        </p:spPr>
        <p:txBody>
          <a:bodyPr lIns="0" tIns="0" rIns="0" bIns="0"/>
          <a:lstStyle>
            <a:lvl1pPr>
              <a:defRPr lang="de-DE" b="0" i="0" dirty="0"/>
            </a:lvl1pPr>
          </a:lstStyle>
          <a:p>
            <a:pPr marL="0" lv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862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Grafik, 1 Spal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>
          <a:xfrm>
            <a:off x="625211" y="765640"/>
            <a:ext cx="8634059" cy="549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bearbeiten</a:t>
            </a:r>
          </a:p>
        </p:txBody>
      </p:sp>
      <p:pic>
        <p:nvPicPr>
          <p:cNvPr id="18" name="Bild 17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3" y="1485900"/>
            <a:ext cx="3743523" cy="48244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80000"/>
              </a:lnSpc>
              <a:spcBef>
                <a:spcPts val="400"/>
              </a:spcBef>
              <a:buFontTx/>
              <a:buNone/>
              <a:defRPr/>
            </a:lvl1pPr>
          </a:lstStyle>
          <a:p>
            <a:pPr lvl="0"/>
            <a:r>
              <a:rPr lang="de-DE" dirty="0"/>
              <a:t>Objekt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5025008" y="1485900"/>
            <a:ext cx="4247580" cy="48244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418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0835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Bild 5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95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42950" y="609600"/>
            <a:ext cx="84201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Diagrammplatzhalter 2"/>
          <p:cNvSpPr>
            <a:spLocks noGrp="1"/>
          </p:cNvSpPr>
          <p:nvPr>
            <p:ph type="chart" idx="1"/>
          </p:nvPr>
        </p:nvSpPr>
        <p:spPr>
          <a:xfrm>
            <a:off x="742950" y="1981200"/>
            <a:ext cx="84201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fld id="{C1D2A193-0E07-4D57-91FA-B230AFA30926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731636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1275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981200"/>
            <a:ext cx="41275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2B8972-D613-4840-A2B3-1E4A6CAB1F2E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096619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42950" y="609600"/>
            <a:ext cx="84201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742950" y="1981200"/>
            <a:ext cx="84201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fld id="{A371CBB4-E08C-4D62-9221-C71248BA951B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583709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8A035-105A-416C-95A9-DF36EC924CB5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349118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9EEBD0-682E-4ED1-987F-8E094F6AFA36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08309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4E2F2D-8D9A-48C8-8D29-6EA451C747A3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3924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80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0" r:id="rId3"/>
    <p:sldLayoutId id="2147483652" r:id="rId4"/>
    <p:sldLayoutId id="2147483654" r:id="rId5"/>
    <p:sldLayoutId id="2147483657" r:id="rId6"/>
    <p:sldLayoutId id="2147483656" r:id="rId7"/>
    <p:sldLayoutId id="2147483659" r:id="rId8"/>
    <p:sldLayoutId id="2147483651" r:id="rId9"/>
    <p:sldLayoutId id="2147483653" r:id="rId10"/>
    <p:sldLayoutId id="2147483655" r:id="rId11"/>
    <p:sldLayoutId id="2147483662" r:id="rId12"/>
    <p:sldLayoutId id="2147483663" r:id="rId13"/>
    <p:sldLayoutId id="2147483664" r:id="rId14"/>
    <p:sldLayoutId id="2147483666" r:id="rId15"/>
    <p:sldLayoutId id="2147483668" r:id="rId16"/>
    <p:sldLayoutId id="2147483670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spc="100">
          <a:solidFill>
            <a:schemeClr val="tx1"/>
          </a:solidFill>
          <a:latin typeface="Calibri"/>
          <a:ea typeface="+mj-ea"/>
          <a:cs typeface="Arial" panose="020B0604020202020204" pitchFamily="34" charset="0"/>
        </a:defRPr>
      </a:lvl1pPr>
    </p:titleStyle>
    <p:bodyStyle>
      <a:lvl1pPr marL="182563" indent="-182563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Calibri"/>
          <a:ea typeface="+mn-ea"/>
          <a:cs typeface="Calibri"/>
        </a:defRPr>
      </a:lvl1pPr>
      <a:lvl2pPr marL="449263" indent="-2667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libri"/>
          <a:ea typeface="+mn-ea"/>
          <a:cs typeface="Calibri"/>
        </a:defRPr>
      </a:lvl2pPr>
      <a:lvl3pPr marL="714375" indent="-265113" algn="l" defTabSz="914400" rtl="0" eaLnBrk="1" latinLnBrk="0" hangingPunct="1">
        <a:spcBef>
          <a:spcPct val="20000"/>
        </a:spcBef>
        <a:buClr>
          <a:schemeClr val="accent1"/>
        </a:buClr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Calibri"/>
          <a:ea typeface="+mn-ea"/>
          <a:cs typeface="Calibri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92560" y="1160748"/>
            <a:ext cx="8496944" cy="936104"/>
          </a:xfrm>
        </p:spPr>
        <p:txBody>
          <a:bodyPr/>
          <a:lstStyle/>
          <a:p>
            <a:r>
              <a:rPr lang="en-GB" b="0" dirty="0" smtClean="0"/>
              <a:t/>
            </a:r>
            <a:br>
              <a:rPr lang="en-GB" b="0" dirty="0" smtClean="0"/>
            </a:br>
            <a:r>
              <a:rPr lang="en-GB" dirty="0" smtClean="0"/>
              <a:t>ECB Council Members’ Objectives and Public Debt at Home </a:t>
            </a:r>
            <a:r>
              <a:rPr lang="en-GB" b="0" dirty="0" smtClean="0"/>
              <a:t/>
            </a:r>
            <a:br>
              <a:rPr lang="en-GB" b="0" dirty="0" smtClean="0"/>
            </a:br>
            <a:r>
              <a:rPr lang="en-GB" dirty="0" smtClean="0"/>
              <a:t>– Evidence from an AI-Based Textual Analysis </a:t>
            </a:r>
            <a:endParaRPr lang="en-GB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>
          <a:xfrm>
            <a:off x="1136576" y="3356992"/>
            <a:ext cx="7920880" cy="360213"/>
          </a:xfrm>
        </p:spPr>
        <p:txBody>
          <a:bodyPr/>
          <a:lstStyle/>
          <a:p>
            <a:endParaRPr lang="en-GB" noProof="0" dirty="0" smtClean="0"/>
          </a:p>
          <a:p>
            <a:r>
              <a:rPr lang="en-GB" b="0" dirty="0" smtClean="0"/>
              <a:t>Friedrich Heinemann (ZEW Mannheim and University of Heidelberg)</a:t>
            </a:r>
          </a:p>
          <a:p>
            <a:r>
              <a:rPr lang="en-GB" b="0" noProof="0" dirty="0" smtClean="0"/>
              <a:t>Jan Kemper (ZEW Mannheim and University of Mannheim)</a:t>
            </a:r>
            <a:endParaRPr lang="en-GB" b="0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136576" y="4797152"/>
            <a:ext cx="6840760" cy="360213"/>
          </a:xfrm>
        </p:spPr>
        <p:txBody>
          <a:bodyPr/>
          <a:lstStyle/>
          <a:p>
            <a:endParaRPr lang="en-GB" noProof="0" dirty="0" smtClean="0"/>
          </a:p>
          <a:p>
            <a:endParaRPr lang="en-GB" dirty="0" smtClean="0"/>
          </a:p>
          <a:p>
            <a:endParaRPr lang="en-GB" noProof="0" dirty="0" smtClean="0"/>
          </a:p>
          <a:p>
            <a:r>
              <a:rPr lang="en-GB" dirty="0" smtClean="0"/>
              <a:t>EZB </a:t>
            </a:r>
            <a:r>
              <a:rPr lang="en-GB" dirty="0" err="1" smtClean="0"/>
              <a:t>Transparenzmonitor</a:t>
            </a:r>
            <a:r>
              <a:rPr lang="en-GB" dirty="0" smtClean="0"/>
              <a:t> 2025</a:t>
            </a:r>
            <a:endParaRPr lang="en-GB" noProof="0" dirty="0" smtClean="0"/>
          </a:p>
          <a:p>
            <a:r>
              <a:rPr lang="en-GB" dirty="0" smtClean="0"/>
              <a:t>Mannheim</a:t>
            </a:r>
            <a:r>
              <a:rPr lang="en-GB" noProof="0" dirty="0" smtClean="0"/>
              <a:t>, July 3, 2025</a:t>
            </a:r>
          </a:p>
          <a:p>
            <a:endParaRPr lang="en-GB" noProof="0" dirty="0" smtClean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8220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33413" y="763588"/>
            <a:ext cx="9272587" cy="981794"/>
          </a:xfrm>
        </p:spPr>
        <p:txBody>
          <a:bodyPr/>
          <a:lstStyle/>
          <a:p>
            <a:r>
              <a:rPr lang="en-GB" noProof="0" dirty="0" smtClean="0"/>
              <a:t>Motivation - THE ECB’s Objective Function</a:t>
            </a:r>
            <a:endParaRPr lang="en-GB" noProof="0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noProof="0" dirty="0" smtClean="0"/>
              <a:t>Primary mandate – price stability (Art. 127 (1) TFEU)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noProof="0" dirty="0" smtClean="0"/>
              <a:t>But ECB has other objectives too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dirty="0" smtClean="0"/>
              <a:t>Without prejudice to its primary mandate ECB is required to support general economic policies of the EU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De-facto objective function unclear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 smtClean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8185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33411" y="451155"/>
            <a:ext cx="8639175" cy="981794"/>
          </a:xfrm>
        </p:spPr>
        <p:txBody>
          <a:bodyPr/>
          <a:lstStyle/>
          <a:p>
            <a:r>
              <a:rPr lang="en-GB" noProof="0" dirty="0" smtClean="0"/>
              <a:t>This Paper</a:t>
            </a:r>
            <a:endParaRPr lang="en-GB" noProof="0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0"/>
          </p:nvPr>
        </p:nvSpPr>
        <p:spPr>
          <a:xfrm>
            <a:off x="631964" y="1124744"/>
            <a:ext cx="8639175" cy="4392613"/>
          </a:xfrm>
        </p:spPr>
        <p:txBody>
          <a:bodyPr/>
          <a:lstStyle/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dirty="0" smtClean="0"/>
              <a:t>No normative interest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dirty="0" smtClean="0"/>
              <a:t>Empirically describes</a:t>
            </a:r>
            <a:r>
              <a:rPr lang="en-GB" noProof="0" dirty="0" smtClean="0"/>
              <a:t> the objective function of the ECB over time, by country and by speaker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dirty="0" smtClean="0"/>
              <a:t>National public debt and council members’ objectives</a:t>
            </a:r>
          </a:p>
          <a:p>
            <a:pPr marL="1057275" lvl="2" indent="-342900">
              <a:buFont typeface="Arial" panose="020B0604020202020204" pitchFamily="34" charset="0"/>
              <a:buChar char="•"/>
            </a:pPr>
            <a:r>
              <a:rPr lang="en-GB" noProof="0" dirty="0" smtClean="0"/>
              <a:t>Fiscal dominance hypothesis: high debt – lower interest in primary objective</a:t>
            </a:r>
            <a:endParaRPr lang="en-GB" noProof="0" dirty="0" smtClean="0">
              <a:sym typeface="Wingdings" panose="05000000000000000000" pitchFamily="2" charset="2"/>
            </a:endParaRP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dirty="0" smtClean="0">
                <a:sym typeface="Wingdings" panose="05000000000000000000" pitchFamily="2" charset="2"/>
              </a:rPr>
              <a:t>Methodology:</a:t>
            </a:r>
          </a:p>
          <a:p>
            <a:pPr marL="1057275" lvl="2" indent="-342900">
              <a:buFont typeface="Arial" panose="020B0604020202020204" pitchFamily="34" charset="0"/>
              <a:buChar char="•"/>
            </a:pPr>
            <a:r>
              <a:rPr lang="en-GB" dirty="0" smtClean="0">
                <a:sym typeface="Wingdings" panose="05000000000000000000" pitchFamily="2" charset="2"/>
              </a:rPr>
              <a:t>Dictionary approach + LLM text analysis of about 4600 ECB speeches members (1997-2024)</a:t>
            </a:r>
          </a:p>
          <a:p>
            <a:pPr marL="1057275" lvl="2" indent="-342900">
              <a:buFont typeface="Arial" panose="020B0604020202020204" pitchFamily="34" charset="0"/>
              <a:buChar char="•"/>
            </a:pPr>
            <a:r>
              <a:rPr lang="en-GB" dirty="0" smtClean="0">
                <a:sym typeface="Wingdings" panose="05000000000000000000" pitchFamily="2" charset="2"/>
              </a:rPr>
              <a:t>Regression analysis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noProof="0" dirty="0" smtClean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218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ECB objectives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>
          <a:xfrm>
            <a:off x="488504" y="1556792"/>
            <a:ext cx="8639175" cy="439261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“The primary objective [] shall be to maintain price stability. Without prejudice to the objective of price stability, the ESCB shall support the general economic policies [] as laid down in Article 3 of the Treaty on European Union” (Art. 127 (1) TFEU)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dirty="0" smtClean="0"/>
              <a:t>General economic policies very broad</a:t>
            </a:r>
          </a:p>
          <a:p>
            <a:pPr marL="1057275" lvl="2" indent="-342900">
              <a:buFont typeface="Arial" panose="020B0604020202020204" pitchFamily="34" charset="0"/>
              <a:buChar char="•"/>
            </a:pPr>
            <a:r>
              <a:rPr lang="en-GB" dirty="0" smtClean="0"/>
              <a:t>E.g. „sustainable development“, „balanced economic growth“, „quality of the environment“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We focus on those six selected explicit and implicit objectives of the ECB:</a:t>
            </a:r>
          </a:p>
          <a:p>
            <a:pPr marL="906463" lvl="1" indent="-457200">
              <a:buFont typeface="+mj-lt"/>
              <a:buAutoNum type="arabicPeriod"/>
            </a:pPr>
            <a:r>
              <a:rPr lang="en-GB" dirty="0" smtClean="0"/>
              <a:t>Price stability </a:t>
            </a:r>
            <a:r>
              <a:rPr lang="en-GB" dirty="0" smtClean="0">
                <a:sym typeface="Wingdings" panose="05000000000000000000" pitchFamily="2" charset="2"/>
              </a:rPr>
              <a:t> primary objective of the ECB </a:t>
            </a:r>
          </a:p>
          <a:p>
            <a:pPr marL="906463" lvl="1" indent="-457200">
              <a:buFont typeface="+mj-lt"/>
              <a:buAutoNum type="arabicPeriod"/>
            </a:pPr>
            <a:r>
              <a:rPr lang="en-GB" dirty="0" smtClean="0">
                <a:sym typeface="Wingdings" panose="05000000000000000000" pitchFamily="2" charset="2"/>
              </a:rPr>
              <a:t>Financial stability  important implicit objective particularly since the financial crisis (e.g. banking supervision)</a:t>
            </a:r>
          </a:p>
          <a:p>
            <a:pPr marL="906463" lvl="1" indent="-457200">
              <a:buFont typeface="+mj-lt"/>
              <a:buAutoNum type="arabicPeriod"/>
            </a:pPr>
            <a:r>
              <a:rPr lang="en-GB" dirty="0" smtClean="0"/>
              <a:t>Public debt </a:t>
            </a:r>
            <a:endParaRPr lang="en-GB" dirty="0" smtClean="0">
              <a:sym typeface="Wingdings" panose="05000000000000000000" pitchFamily="2" charset="2"/>
            </a:endParaRPr>
          </a:p>
          <a:p>
            <a:pPr marL="906463" lvl="1" indent="-457200">
              <a:buFont typeface="+mj-lt"/>
              <a:buAutoNum type="arabicPeriod"/>
            </a:pPr>
            <a:r>
              <a:rPr lang="en-GB" dirty="0" smtClean="0">
                <a:sym typeface="Wingdings" panose="05000000000000000000" pitchFamily="2" charset="2"/>
              </a:rPr>
              <a:t>Sovereign bond markets</a:t>
            </a:r>
          </a:p>
          <a:p>
            <a:pPr marL="906463" lvl="1" indent="-457200">
              <a:buFont typeface="+mj-lt"/>
              <a:buAutoNum type="arabicPeriod"/>
            </a:pPr>
            <a:r>
              <a:rPr lang="en-GB" dirty="0" smtClean="0">
                <a:sym typeface="Wingdings" panose="05000000000000000000" pitchFamily="2" charset="2"/>
              </a:rPr>
              <a:t>Climate protection</a:t>
            </a:r>
          </a:p>
          <a:p>
            <a:pPr marL="906463" lvl="1" indent="-457200">
              <a:buFont typeface="+mj-lt"/>
              <a:buAutoNum type="arabicPeriod"/>
            </a:pPr>
            <a:r>
              <a:rPr lang="en-GB" dirty="0" smtClean="0">
                <a:sym typeface="Wingdings" panose="05000000000000000000" pitchFamily="2" charset="2"/>
              </a:rPr>
              <a:t>Distribution</a:t>
            </a:r>
          </a:p>
          <a:p>
            <a:pPr marL="906463" lvl="1" indent="-45720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969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</a:t>
            </a:r>
            <a:endParaRPr lang="en-GB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Speeches dataset (BIS 2024)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dirty="0" smtClean="0"/>
              <a:t>We include only English speeches from executive board members and the national presidents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dirty="0" smtClean="0"/>
              <a:t>Cross-check with ECB and Bundesbank databases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55811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Innovation: LLM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>
          <a:xfrm>
            <a:off x="597630" y="1412776"/>
            <a:ext cx="8639175" cy="4392613"/>
          </a:xfrm>
        </p:spPr>
        <p:txBody>
          <a:bodyPr/>
          <a:lstStyle/>
          <a:p>
            <a:r>
              <a:rPr lang="en-GB" dirty="0" err="1" smtClean="0"/>
              <a:t>Vorher</a:t>
            </a:r>
            <a:r>
              <a:rPr lang="en-GB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Count relevant words (dictionaries)</a:t>
            </a:r>
            <a:endParaRPr lang="en-GB" dirty="0"/>
          </a:p>
          <a:p>
            <a:r>
              <a:rPr lang="en-GB" dirty="0" smtClean="0"/>
              <a:t>Two main dimensions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smtClean="0"/>
              <a:t>Prevalence of the objective</a:t>
            </a:r>
          </a:p>
          <a:p>
            <a:pPr marL="906463" lvl="1" indent="-457200">
              <a:buFont typeface="Arial" panose="020B0604020202020204" pitchFamily="34" charset="0"/>
              <a:buChar char="•"/>
            </a:pPr>
            <a:r>
              <a:rPr lang="en-GB" dirty="0" smtClean="0"/>
              <a:t>Is the objective mentioned in a speech </a:t>
            </a:r>
            <a:r>
              <a:rPr lang="en-GB" dirty="0" smtClean="0">
                <a:sym typeface="Wingdings" panose="05000000000000000000" pitchFamily="2" charset="2"/>
              </a:rPr>
              <a:t> 1 or 0</a:t>
            </a:r>
            <a:endParaRPr lang="en-GB" dirty="0" smtClean="0"/>
          </a:p>
          <a:p>
            <a:pPr marL="457200" indent="-457200">
              <a:buFont typeface="+mj-lt"/>
              <a:buAutoNum type="arabicPeriod"/>
            </a:pPr>
            <a:r>
              <a:rPr lang="en-GB" dirty="0" smtClean="0"/>
              <a:t>Score</a:t>
            </a:r>
          </a:p>
          <a:p>
            <a:pPr marL="906463" lvl="1" indent="-457200">
              <a:buFont typeface="Arial" panose="020B0604020202020204" pitchFamily="34" charset="0"/>
              <a:buChar char="•"/>
            </a:pPr>
            <a:r>
              <a:rPr lang="en-GB" dirty="0" smtClean="0"/>
              <a:t>Positioning of the speaker toward the topic</a:t>
            </a:r>
          </a:p>
          <a:p>
            <a:pPr marL="906463" lvl="1" indent="-457200">
              <a:buFont typeface="Arial" panose="020B0604020202020204" pitchFamily="34" charset="0"/>
              <a:buChar char="•"/>
            </a:pPr>
            <a:r>
              <a:rPr lang="en-GB" dirty="0" smtClean="0"/>
              <a:t>Negative, neutral, positive</a:t>
            </a:r>
          </a:p>
          <a:p>
            <a:pPr marL="906463" lvl="1" indent="-457200">
              <a:buFont typeface="Arial" panose="020B0604020202020204" pitchFamily="34" charset="0"/>
              <a:buChar char="•"/>
            </a:pPr>
            <a:r>
              <a:rPr lang="en-GB" dirty="0" smtClean="0"/>
              <a:t>For price stability </a:t>
            </a:r>
            <a:r>
              <a:rPr lang="en-GB" dirty="0" smtClean="0">
                <a:sym typeface="Wingdings" panose="05000000000000000000" pitchFamily="2" charset="2"/>
              </a:rPr>
              <a:t> hawkish (1), neutral (0), dovish (-1) classification</a:t>
            </a:r>
          </a:p>
          <a:p>
            <a:pPr marL="906463" lvl="1" indent="-457200">
              <a:buFont typeface="Arial" panose="020B0604020202020204" pitchFamily="34" charset="0"/>
              <a:buChar char="•"/>
            </a:pPr>
            <a:r>
              <a:rPr lang="en-GB" dirty="0" smtClean="0">
                <a:sym typeface="Wingdings" panose="05000000000000000000" pitchFamily="2" charset="2"/>
              </a:rPr>
              <a:t>For other objectives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smtClean="0">
                <a:sym typeface="Wingdings" panose="05000000000000000000" pitchFamily="2" charset="2"/>
              </a:rPr>
              <a:t>“hawkish” </a:t>
            </a:r>
            <a:r>
              <a:rPr lang="en-US" dirty="0">
                <a:sym typeface="Wingdings" panose="05000000000000000000" pitchFamily="2" charset="2"/>
              </a:rPr>
              <a:t>(1</a:t>
            </a:r>
            <a:r>
              <a:rPr lang="en-US" dirty="0" smtClean="0">
                <a:sym typeface="Wingdings" panose="05000000000000000000" pitchFamily="2" charset="2"/>
              </a:rPr>
              <a:t>) if ECB should instead focus on price stability, </a:t>
            </a:r>
            <a:r>
              <a:rPr lang="en-US" dirty="0">
                <a:sym typeface="Wingdings" panose="05000000000000000000" pitchFamily="2" charset="2"/>
              </a:rPr>
              <a:t>neutral (0), dovish (-1) </a:t>
            </a:r>
            <a:r>
              <a:rPr lang="en-US" dirty="0" smtClean="0">
                <a:sym typeface="Wingdings" panose="05000000000000000000" pitchFamily="2" charset="2"/>
              </a:rPr>
              <a:t>if ECB should be more active for the other objective.</a:t>
            </a:r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smtClean="0">
                <a:sym typeface="Wingdings" panose="05000000000000000000" pitchFamily="2" charset="2"/>
              </a:rPr>
              <a:t>Advantage of LLM over former text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sym typeface="Wingdings" panose="05000000000000000000" pitchFamily="2" charset="2"/>
              </a:rPr>
              <a:t>LLM can consider context of  a speech instead of identifying single terms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sym typeface="Wingdings" panose="05000000000000000000" pitchFamily="2" charset="2"/>
              </a:rPr>
              <a:t>Enables to capture more complex constructs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04417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Prompt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 smtClean="0"/>
              <a:t>You have a PhD in Economics and are </a:t>
            </a:r>
            <a:r>
              <a:rPr lang="en-GB" b="1" dirty="0" smtClean="0"/>
              <a:t>a researcher </a:t>
            </a:r>
            <a:r>
              <a:rPr lang="en-GB" b="1" dirty="0" err="1" smtClean="0"/>
              <a:t>spealized</a:t>
            </a:r>
            <a:r>
              <a:rPr lang="en-GB" b="1" dirty="0" smtClean="0"/>
              <a:t> on monetary policy</a:t>
            </a:r>
            <a:r>
              <a:rPr lang="en-GB" dirty="0" smtClean="0"/>
              <a:t>. Your task is to classify this speech of a member of the European Central Bank Council. </a:t>
            </a:r>
            <a:r>
              <a:rPr lang="en-GB" b="1" dirty="0" smtClean="0"/>
              <a:t>Does the following speech contain the topic inflation or price stability at any point?</a:t>
            </a:r>
            <a:r>
              <a:rPr lang="en-GB" dirty="0" smtClean="0"/>
              <a:t> If yes, return a yes if no return a no. In a second step, </a:t>
            </a:r>
            <a:r>
              <a:rPr lang="en-GB" b="1" dirty="0" smtClean="0"/>
              <a:t>classify the opinion</a:t>
            </a:r>
            <a:r>
              <a:rPr lang="en-GB" dirty="0" smtClean="0"/>
              <a:t> of the speaker </a:t>
            </a:r>
            <a:r>
              <a:rPr lang="en-GB" b="1" dirty="0" smtClean="0"/>
              <a:t>towards the role of central banks to limit the inflation rate and to protect price stability</a:t>
            </a:r>
            <a:r>
              <a:rPr lang="en-GB" dirty="0" smtClean="0"/>
              <a:t>. Return a -1 if the speaker does currently see no risks that the inflation rate is or will be too high and that there is therefore currently room for a more expansionary use of conventional or unconventional monetary policy instruments, return a 0 if the speaker expresses that the current use of monetary policy instruments is just about right to reach the central bank’s inflation objective, return a 1 if the speaker currently sees risks that the inflation rate is or will be too high in the future and that there is therefore now the need for a more restrictive monetary policy. If inflation or price stability is not discussed return NA. The output format should only be: ["Answer 1", "Answer 2"]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023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Econometric Model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5"/>
              <p:cNvGraphicFramePr>
                <a:graphicFrameLocks noGrp="1"/>
              </p:cNvGraphicFramePr>
              <p:nvPr>
                <p:ph sz="quarter" idx="10"/>
                <p:extLst>
                  <p:ext uri="{D42A27DB-BD31-4B8C-83A1-F6EECF244321}">
                    <p14:modId xmlns:p14="http://schemas.microsoft.com/office/powerpoint/2010/main" val="2130095249"/>
                  </p:ext>
                </p:extLst>
              </p:nvPr>
            </p:nvGraphicFramePr>
            <p:xfrm>
              <a:off x="633413" y="1556792"/>
              <a:ext cx="8638586" cy="716334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638586"/>
                  </a:tblGrid>
                  <a:tr h="169218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Calibri" panose="020F0502020204030204" pitchFamily="34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𝑖𝑐𝑡</m:t>
                                  </m:r>
                                </m:sub>
                              </m:sSub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de-DE" sz="20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0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e-DE" sz="20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de-DE" sz="2000" b="0" i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Public</m:t>
                              </m:r>
                              <m:r>
                                <a:rPr lang="de-DE" sz="2000" b="0" i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de-DE" sz="20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debt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 sz="2000" b="0" i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ct</m:t>
                                  </m:r>
                                </m:sub>
                              </m:sSub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0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𝑖𝑐𝑡</m:t>
                                  </m:r>
                                </m:sub>
                              </m:sSub>
                            </m:oMath>
                          </a14:m>
                          <a:endParaRPr lang="de-DE" sz="2000" dirty="0" smtClean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</a:pPr>
                          <a:endParaRPr lang="de-DE" sz="2000" dirty="0" smtClean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</a:pPr>
                          <a:r>
                            <a:rPr lang="en-GB" sz="2000" noProof="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Two-way and</a:t>
                          </a:r>
                          <a:r>
                            <a:rPr lang="en-GB" sz="2000" baseline="0" noProof="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one-way fixed effect models</a:t>
                          </a:r>
                          <a:endParaRPr lang="en-GB" sz="2000" noProof="0" dirty="0" smtClean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indent="-342900"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2000" b="0" i="1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sz="2000" b="0" i="1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𝑖𝑐𝑡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2000" noProof="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is the objective</a:t>
                          </a:r>
                          <a:r>
                            <a:rPr lang="en-GB" sz="2000" baseline="0" noProof="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or score indicator for speaker i, from country c in year t</a:t>
                          </a:r>
                        </a:p>
                        <a:p>
                          <a:pPr marL="342900" indent="-342900"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2000" b="0" i="1" baseline="0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baseline="0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000" b="0" i="1" baseline="0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GB" sz="2000" b="0" i="1" baseline="0" noProof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2000" baseline="0" noProof="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is a country fixed effect</a:t>
                          </a:r>
                        </a:p>
                        <a:p>
                          <a:pPr marL="342900" indent="-342900"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2000" b="0" i="1" baseline="0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baseline="0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sz="2000" b="0" i="1" baseline="0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2000" baseline="0" noProof="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is a year fixed effect </a:t>
                          </a:r>
                          <a:r>
                            <a:rPr lang="en-GB" sz="2000" baseline="0" noProof="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  <a:sym typeface="Wingdings" panose="05000000000000000000" pitchFamily="2" charset="2"/>
                            </a:rPr>
                            <a:t> captures homogenous time shocks across the EU </a:t>
                          </a:r>
                          <a:endParaRPr lang="en-GB" sz="2000" baseline="0" noProof="0" dirty="0" smtClean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indent="-342900"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GB" sz="2000" b="0" i="1" baseline="0" noProof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𝑃𝑢𝑏𝑙𝑖𝑐</m:t>
                              </m:r>
                              <m:r>
                                <a:rPr lang="en-GB" sz="2000" b="0" i="1" baseline="0" noProof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GB" sz="2000" b="0" i="1" baseline="0" noProof="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𝑑𝑒𝑏</m:t>
                              </m:r>
                              <m:sSub>
                                <m:sSubPr>
                                  <m:ctrlPr>
                                    <a:rPr lang="en-GB" sz="2000" b="0" i="1" baseline="0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baseline="0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sz="2000" b="0" i="1" baseline="0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𝑐𝑡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2000" baseline="0" noProof="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Public debt level </a:t>
                          </a:r>
                        </a:p>
                        <a:p>
                          <a:pPr marL="342900" indent="-342900"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2000" b="0" i="1" baseline="0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baseline="0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GB" sz="2000" b="0" i="1" baseline="0" noProof="0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𝑖𝑐𝑡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2000" baseline="0" noProof="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error term</a:t>
                          </a:r>
                        </a:p>
                        <a:p>
                          <a:pPr marL="342900" indent="-342900"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Font typeface="Arial" panose="020B0604020202020204" pitchFamily="34" charset="0"/>
                            <a:buChar char="•"/>
                          </a:pPr>
                          <a:endParaRPr lang="de-DE" sz="2000" dirty="0" smtClean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</a:pPr>
                          <a:endParaRPr lang="de-DE" sz="2000" dirty="0" smtClean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indent="-342900"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  <a:buFont typeface="Arial" panose="020B0604020202020204" pitchFamily="34" charset="0"/>
                            <a:buChar char="•"/>
                          </a:pPr>
                          <a:endParaRPr lang="de-DE" sz="2000" baseline="0" dirty="0" smtClean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</a:pPr>
                          <a:endParaRPr lang="de-DE" sz="2000" baseline="0" dirty="0" smtClean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</a:pPr>
                          <a:endParaRPr lang="de-DE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7606" marR="117606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</a:tr>
                  <a:tr h="169218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</a:pPr>
                          <a:endParaRPr lang="de-DE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7606" marR="117606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5"/>
              <p:cNvGraphicFramePr>
                <a:graphicFrameLocks noGrp="1"/>
              </p:cNvGraphicFramePr>
              <p:nvPr>
                <p:ph sz="quarter" idx="10"/>
                <p:extLst>
                  <p:ext uri="{D42A27DB-BD31-4B8C-83A1-F6EECF244321}">
                    <p14:modId xmlns:p14="http://schemas.microsoft.com/office/powerpoint/2010/main" val="2130095249"/>
                  </p:ext>
                </p:extLst>
              </p:nvPr>
            </p:nvGraphicFramePr>
            <p:xfrm>
              <a:off x="633413" y="1556792"/>
              <a:ext cx="8638586" cy="714277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638586"/>
                  </a:tblGrid>
                  <a:tr h="5450586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117606" marR="117606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3"/>
                          <a:stretch>
                            <a:fillRect b="-31061"/>
                          </a:stretch>
                        </a:blipFill>
                      </a:tcPr>
                    </a:tc>
                  </a:tr>
                  <a:tr h="169218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600"/>
                            </a:spcAft>
                          </a:pPr>
                          <a:endParaRPr lang="de-DE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7606" marR="117606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4348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1568624" y="229255"/>
            <a:ext cx="8639175" cy="981794"/>
          </a:xfrm>
        </p:spPr>
        <p:txBody>
          <a:bodyPr/>
          <a:lstStyle/>
          <a:p>
            <a:r>
              <a:rPr lang="en-GB" dirty="0" smtClean="0"/>
              <a:t>Objectives over Time: Coverage LLM</a:t>
            </a:r>
            <a:endParaRPr lang="en-GB" dirty="0"/>
          </a:p>
        </p:txBody>
      </p:sp>
      <p:pic>
        <p:nvPicPr>
          <p:cNvPr id="8" name="Grafik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4" y="1124745"/>
            <a:ext cx="7704856" cy="496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4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538781" y="504578"/>
            <a:ext cx="9272587" cy="981794"/>
          </a:xfrm>
        </p:spPr>
        <p:txBody>
          <a:bodyPr/>
          <a:lstStyle/>
          <a:p>
            <a:r>
              <a:rPr lang="en-GB" dirty="0" smtClean="0"/>
              <a:t>Coverage of Selected Objectives by Country LLM</a:t>
            </a:r>
            <a:endParaRPr lang="en-GB" dirty="0"/>
          </a:p>
        </p:txBody>
      </p:sp>
      <p:pic>
        <p:nvPicPr>
          <p:cNvPr id="5" name="Inhaltsplatzhalter 4"/>
          <p:cNvPicPr>
            <a:picLocks noGrp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85" y="1484784"/>
            <a:ext cx="4388023" cy="4812385"/>
          </a:xfrm>
          <a:prstGeom prst="rect">
            <a:avLst/>
          </a:prstGeom>
        </p:spPr>
      </p:pic>
      <p:pic>
        <p:nvPicPr>
          <p:cNvPr id="6" name="Grafik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075" y="1484784"/>
            <a:ext cx="4242421" cy="47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29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Coverage of Selected Objectives By Speaker LLM (Since 2015)</a:t>
            </a:r>
            <a:endParaRPr lang="en-GB" dirty="0"/>
          </a:p>
        </p:txBody>
      </p:sp>
      <p:pic>
        <p:nvPicPr>
          <p:cNvPr id="5" name="Grafik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28" y="1556792"/>
            <a:ext cx="8424936" cy="4608512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704528" y="6525344"/>
            <a:ext cx="360194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Note: Speaker </a:t>
            </a:r>
            <a:r>
              <a:rPr lang="de-DE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lang="de-DE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de-DE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40 </a:t>
            </a:r>
            <a:r>
              <a:rPr lang="de-DE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speeches</a:t>
            </a:r>
            <a:r>
              <a:rPr lang="de-DE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de-DE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2014-2024</a:t>
            </a:r>
          </a:p>
        </p:txBody>
      </p:sp>
    </p:spTree>
    <p:extLst>
      <p:ext uri="{BB962C8B-B14F-4D97-AF65-F5344CB8AC3E}">
        <p14:creationId xmlns:p14="http://schemas.microsoft.com/office/powerpoint/2010/main" val="121310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Summary </a:t>
            </a:r>
            <a:r>
              <a:rPr lang="de-DE" dirty="0" err="1" smtClean="0"/>
              <a:t>Preliminary</a:t>
            </a:r>
            <a:r>
              <a:rPr lang="de-DE" dirty="0" smtClean="0"/>
              <a:t> Regression </a:t>
            </a:r>
            <a:r>
              <a:rPr lang="de-DE" dirty="0" err="1" smtClean="0"/>
              <a:t>result</a:t>
            </a:r>
            <a:r>
              <a:rPr lang="de-DE" dirty="0" smtClean="0"/>
              <a:t> – Public </a:t>
            </a:r>
            <a:r>
              <a:rPr lang="de-DE" dirty="0" err="1" smtClean="0"/>
              <a:t>debt</a:t>
            </a:r>
            <a:r>
              <a:rPr lang="de-DE" dirty="0" smtClean="0"/>
              <a:t> and </a:t>
            </a:r>
            <a:r>
              <a:rPr lang="de-DE" dirty="0" err="1" smtClean="0"/>
              <a:t>Objectives</a:t>
            </a:r>
            <a:r>
              <a:rPr lang="de-DE" dirty="0" smtClean="0"/>
              <a:t> 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800" dirty="0" smtClean="0"/>
              <a:t>Cross </a:t>
            </a:r>
            <a:r>
              <a:rPr lang="de-DE" sz="2800" dirty="0" err="1" smtClean="0"/>
              <a:t>country</a:t>
            </a:r>
            <a:r>
              <a:rPr lang="de-DE" sz="2800" dirty="0" smtClean="0"/>
              <a:t> </a:t>
            </a:r>
            <a:r>
              <a:rPr lang="de-DE" sz="2800" dirty="0" err="1" smtClean="0"/>
              <a:t>correlation</a:t>
            </a:r>
            <a:r>
              <a:rPr lang="de-DE" sz="2800" dirty="0" smtClean="0"/>
              <a:t> </a:t>
            </a:r>
            <a:r>
              <a:rPr lang="de-DE" sz="2800" dirty="0" err="1" smtClean="0"/>
              <a:t>between</a:t>
            </a:r>
            <a:r>
              <a:rPr lang="de-DE" sz="2800" dirty="0" smtClean="0"/>
              <a:t> </a:t>
            </a:r>
            <a:r>
              <a:rPr lang="de-DE" sz="2800" u="sng" dirty="0" err="1" smtClean="0"/>
              <a:t>higher</a:t>
            </a:r>
            <a:r>
              <a:rPr lang="de-DE" sz="2800" u="sng" dirty="0" smtClean="0"/>
              <a:t> </a:t>
            </a:r>
            <a:r>
              <a:rPr lang="de-DE" sz="2800" u="sng" dirty="0" err="1" smtClean="0"/>
              <a:t>public</a:t>
            </a:r>
            <a:r>
              <a:rPr lang="de-DE" sz="2800" u="sng" dirty="0" smtClean="0"/>
              <a:t> </a:t>
            </a:r>
            <a:r>
              <a:rPr lang="de-DE" sz="2800" u="sng" dirty="0" err="1" smtClean="0"/>
              <a:t>debt</a:t>
            </a:r>
            <a:r>
              <a:rPr lang="de-DE" sz="2800" u="sng" dirty="0" smtClean="0"/>
              <a:t> </a:t>
            </a:r>
            <a:r>
              <a:rPr lang="de-DE" sz="2800" dirty="0" smtClean="0"/>
              <a:t>and </a:t>
            </a:r>
            <a:r>
              <a:rPr lang="de-DE" sz="2800" u="sng" dirty="0" err="1" smtClean="0"/>
              <a:t>secondary</a:t>
            </a:r>
            <a:r>
              <a:rPr lang="de-DE" sz="2800" u="sng" dirty="0" smtClean="0"/>
              <a:t> </a:t>
            </a:r>
            <a:r>
              <a:rPr lang="de-DE" sz="2800" u="sng" dirty="0" err="1" smtClean="0"/>
              <a:t>objectives</a:t>
            </a:r>
            <a:endParaRPr lang="de-DE" sz="2800" u="sng" dirty="0" smtClean="0"/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de-DE" sz="2800" dirty="0" smtClean="0"/>
              <a:t>Higher </a:t>
            </a:r>
            <a:r>
              <a:rPr lang="de-DE" sz="2800" dirty="0" err="1" smtClean="0"/>
              <a:t>likelihood</a:t>
            </a:r>
            <a:r>
              <a:rPr lang="de-DE" sz="2800" dirty="0" smtClean="0"/>
              <a:t> </a:t>
            </a:r>
            <a:r>
              <a:rPr lang="de-DE" sz="2800" dirty="0" err="1" smtClean="0"/>
              <a:t>to</a:t>
            </a:r>
            <a:r>
              <a:rPr lang="de-DE" sz="2800" dirty="0" smtClean="0"/>
              <a:t> </a:t>
            </a:r>
            <a:r>
              <a:rPr lang="de-DE" sz="2800" dirty="0" err="1" smtClean="0"/>
              <a:t>mention</a:t>
            </a:r>
            <a:r>
              <a:rPr lang="de-DE" sz="2800" dirty="0" smtClean="0"/>
              <a:t> </a:t>
            </a:r>
            <a:r>
              <a:rPr lang="de-DE" sz="2800" dirty="0" err="1" smtClean="0"/>
              <a:t>secondary</a:t>
            </a:r>
            <a:r>
              <a:rPr lang="de-DE" sz="2800" dirty="0" smtClean="0"/>
              <a:t> </a:t>
            </a:r>
            <a:r>
              <a:rPr lang="de-DE" sz="2800" dirty="0" err="1" smtClean="0"/>
              <a:t>objective</a:t>
            </a:r>
            <a:r>
              <a:rPr lang="de-DE" sz="2800" dirty="0" smtClean="0"/>
              <a:t> </a:t>
            </a:r>
            <a:r>
              <a:rPr lang="de-DE" sz="2800" dirty="0" err="1" smtClean="0"/>
              <a:t>if</a:t>
            </a:r>
            <a:r>
              <a:rPr lang="de-DE" sz="2800" dirty="0" smtClean="0"/>
              <a:t> </a:t>
            </a:r>
            <a:r>
              <a:rPr lang="de-DE" sz="2800" dirty="0" err="1" smtClean="0"/>
              <a:t>state</a:t>
            </a:r>
            <a:r>
              <a:rPr lang="de-DE" sz="2800" dirty="0" smtClean="0"/>
              <a:t> </a:t>
            </a:r>
            <a:r>
              <a:rPr lang="de-DE" sz="2800" dirty="0" err="1" smtClean="0"/>
              <a:t>has</a:t>
            </a:r>
            <a:r>
              <a:rPr lang="de-DE" sz="2800" dirty="0" smtClean="0"/>
              <a:t> </a:t>
            </a:r>
            <a:r>
              <a:rPr lang="de-DE" sz="2800" dirty="0" err="1" smtClean="0"/>
              <a:t>higher</a:t>
            </a:r>
            <a:r>
              <a:rPr lang="de-DE" sz="2800" dirty="0" smtClean="0"/>
              <a:t> </a:t>
            </a:r>
            <a:r>
              <a:rPr lang="de-DE" sz="2800" dirty="0" err="1" smtClean="0"/>
              <a:t>public</a:t>
            </a:r>
            <a:r>
              <a:rPr lang="de-DE" sz="2800" dirty="0" smtClean="0"/>
              <a:t> </a:t>
            </a:r>
            <a:r>
              <a:rPr lang="de-DE" sz="2800" dirty="0" err="1" smtClean="0"/>
              <a:t>debt</a:t>
            </a:r>
            <a:endParaRPr lang="de-DE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800" dirty="0" smtClean="0"/>
              <a:t>Higher </a:t>
            </a:r>
            <a:r>
              <a:rPr lang="de-DE" sz="2800" dirty="0" err="1" smtClean="0"/>
              <a:t>public</a:t>
            </a:r>
            <a:r>
              <a:rPr lang="de-DE" sz="2800" dirty="0" smtClean="0"/>
              <a:t> </a:t>
            </a:r>
            <a:r>
              <a:rPr lang="de-DE" sz="2800" dirty="0" err="1" smtClean="0"/>
              <a:t>debt</a:t>
            </a:r>
            <a:r>
              <a:rPr lang="de-DE" sz="2800" dirty="0" smtClean="0"/>
              <a:t> </a:t>
            </a:r>
            <a:r>
              <a:rPr lang="de-DE" sz="2800" dirty="0" err="1" smtClean="0"/>
              <a:t>correlates</a:t>
            </a:r>
            <a:r>
              <a:rPr lang="de-DE" sz="2800" dirty="0" smtClean="0"/>
              <a:t> </a:t>
            </a:r>
            <a:r>
              <a:rPr lang="de-DE" sz="2800" dirty="0" err="1" smtClean="0"/>
              <a:t>with</a:t>
            </a:r>
            <a:r>
              <a:rPr lang="de-DE" sz="2800" dirty="0" smtClean="0"/>
              <a:t> </a:t>
            </a:r>
            <a:r>
              <a:rPr lang="de-DE" sz="2800" dirty="0" err="1" smtClean="0"/>
              <a:t>more</a:t>
            </a:r>
            <a:r>
              <a:rPr lang="de-DE" sz="2800" dirty="0" smtClean="0"/>
              <a:t> </a:t>
            </a:r>
            <a:r>
              <a:rPr lang="de-DE" sz="2800" dirty="0" err="1" smtClean="0"/>
              <a:t>dovish</a:t>
            </a:r>
            <a:r>
              <a:rPr lang="de-DE" sz="2800" dirty="0" smtClean="0"/>
              <a:t> </a:t>
            </a:r>
            <a:r>
              <a:rPr lang="de-DE" sz="2800" dirty="0" err="1" smtClean="0"/>
              <a:t>position</a:t>
            </a:r>
            <a:r>
              <a:rPr lang="de-DE" sz="2800" dirty="0" smtClean="0"/>
              <a:t> (robust </a:t>
            </a:r>
            <a:r>
              <a:rPr lang="de-DE" sz="2800" dirty="0" err="1" smtClean="0"/>
              <a:t>to</a:t>
            </a:r>
            <a:r>
              <a:rPr lang="de-DE" sz="2800" dirty="0" smtClean="0"/>
              <a:t> </a:t>
            </a:r>
            <a:r>
              <a:rPr lang="de-DE" sz="2800" dirty="0" err="1" smtClean="0"/>
              <a:t>two-way</a:t>
            </a:r>
            <a:r>
              <a:rPr lang="de-DE" sz="2800" dirty="0" smtClean="0"/>
              <a:t> </a:t>
            </a:r>
            <a:r>
              <a:rPr lang="de-DE" sz="2800" dirty="0" err="1" smtClean="0"/>
              <a:t>fixed</a:t>
            </a:r>
            <a:r>
              <a:rPr lang="de-DE" sz="2800" dirty="0" smtClean="0"/>
              <a:t> </a:t>
            </a:r>
            <a:r>
              <a:rPr lang="de-DE" sz="2800" dirty="0" err="1" smtClean="0"/>
              <a:t>effects</a:t>
            </a:r>
            <a:r>
              <a:rPr lang="de-DE" sz="2800" dirty="0" smtClean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6603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Project Outlook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 smtClean="0"/>
              <a:t>Continous</a:t>
            </a:r>
            <a:r>
              <a:rPr lang="de-DE" dirty="0" smtClean="0"/>
              <a:t> </a:t>
            </a:r>
            <a:r>
              <a:rPr lang="de-DE" dirty="0" err="1" smtClean="0"/>
              <a:t>measure</a:t>
            </a:r>
            <a:endParaRPr lang="de-DE" dirty="0" smtClean="0"/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de-DE" dirty="0" smtClean="0"/>
              <a:t>Split </a:t>
            </a:r>
            <a:r>
              <a:rPr lang="de-DE" dirty="0" err="1" smtClean="0"/>
              <a:t>speeches</a:t>
            </a:r>
            <a:r>
              <a:rPr lang="de-DE" dirty="0" smtClean="0"/>
              <a:t> in </a:t>
            </a:r>
            <a:r>
              <a:rPr lang="de-DE" dirty="0" err="1" smtClean="0"/>
              <a:t>smaller</a:t>
            </a:r>
            <a:r>
              <a:rPr lang="de-DE" dirty="0" smtClean="0"/>
              <a:t> </a:t>
            </a:r>
            <a:r>
              <a:rPr lang="de-DE" dirty="0" err="1" smtClean="0"/>
              <a:t>parts</a:t>
            </a:r>
            <a:endParaRPr lang="de-DE" dirty="0" smtClean="0"/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de-DE" dirty="0" err="1" smtClean="0"/>
              <a:t>Directly</a:t>
            </a:r>
            <a:r>
              <a:rPr lang="de-DE" dirty="0" smtClean="0"/>
              <a:t> </a:t>
            </a:r>
            <a:r>
              <a:rPr lang="de-DE" dirty="0" err="1" smtClean="0"/>
              <a:t>measure</a:t>
            </a:r>
            <a:r>
              <a:rPr lang="de-DE" dirty="0" smtClean="0"/>
              <a:t> </a:t>
            </a:r>
            <a:r>
              <a:rPr lang="de-DE" dirty="0" err="1" smtClean="0"/>
              <a:t>preferences</a:t>
            </a:r>
            <a:r>
              <a:rPr lang="de-DE" dirty="0" smtClean="0"/>
              <a:t> </a:t>
            </a:r>
            <a:r>
              <a:rPr lang="de-DE" dirty="0" err="1" smtClean="0"/>
              <a:t>continously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LLMs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 smtClean="0"/>
              <a:t>Include</a:t>
            </a:r>
            <a:r>
              <a:rPr lang="de-DE" dirty="0" smtClean="0"/>
              <a:t> individual </a:t>
            </a:r>
            <a:r>
              <a:rPr lang="de-DE" dirty="0" err="1" smtClean="0"/>
              <a:t>characteristics</a:t>
            </a:r>
            <a:endParaRPr lang="de-DE" dirty="0" smtClean="0"/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de-DE" dirty="0" smtClean="0"/>
              <a:t>Education, </a:t>
            </a:r>
            <a:r>
              <a:rPr lang="de-DE" dirty="0" err="1" smtClean="0"/>
              <a:t>profession</a:t>
            </a:r>
            <a:r>
              <a:rPr lang="de-DE" dirty="0" smtClean="0"/>
              <a:t>, </a:t>
            </a:r>
            <a:r>
              <a:rPr lang="de-DE" dirty="0" err="1" smtClean="0"/>
              <a:t>age</a:t>
            </a:r>
            <a:endParaRPr lang="de-DE" dirty="0" smtClean="0"/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de-DE" dirty="0" smtClean="0"/>
              <a:t>Individual </a:t>
            </a:r>
            <a:r>
              <a:rPr lang="de-DE" dirty="0" err="1" smtClean="0"/>
              <a:t>fixed</a:t>
            </a:r>
            <a:r>
              <a:rPr lang="de-DE" dirty="0" smtClean="0"/>
              <a:t> </a:t>
            </a:r>
            <a:r>
              <a:rPr lang="de-DE" dirty="0" err="1" smtClean="0"/>
              <a:t>effects</a:t>
            </a:r>
            <a:r>
              <a:rPr lang="de-DE" dirty="0" smtClean="0"/>
              <a:t> </a:t>
            </a:r>
            <a:r>
              <a:rPr lang="de-DE" dirty="0" smtClean="0">
                <a:sym typeface="Wingdings" panose="05000000000000000000" pitchFamily="2" charset="2"/>
              </a:rPr>
              <a:t> </a:t>
            </a:r>
            <a:r>
              <a:rPr lang="de-DE" dirty="0" err="1" smtClean="0">
                <a:sym typeface="Wingdings" panose="05000000000000000000" pitchFamily="2" charset="2"/>
              </a:rPr>
              <a:t>how</a:t>
            </a:r>
            <a:r>
              <a:rPr lang="de-DE" dirty="0" smtClean="0">
                <a:sym typeface="Wingdings" panose="05000000000000000000" pitchFamily="2" charset="2"/>
              </a:rPr>
              <a:t> do individual </a:t>
            </a:r>
            <a:r>
              <a:rPr lang="de-DE" dirty="0" err="1" smtClean="0">
                <a:sym typeface="Wingdings" panose="05000000000000000000" pitchFamily="2" charset="2"/>
              </a:rPr>
              <a:t>central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bankers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change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their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positions</a:t>
            </a:r>
            <a:endParaRPr lang="de-DE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Validation + </a:t>
            </a:r>
            <a:r>
              <a:rPr lang="de-DE" dirty="0" err="1" smtClean="0"/>
              <a:t>Robustness</a:t>
            </a:r>
            <a:r>
              <a:rPr lang="de-DE" dirty="0" smtClean="0"/>
              <a:t> </a:t>
            </a:r>
            <a:r>
              <a:rPr lang="de-DE" dirty="0" err="1" smtClean="0"/>
              <a:t>checks</a:t>
            </a:r>
            <a:endParaRPr lang="de-DE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2325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conclusion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>
          <a:xfrm>
            <a:off x="633600" y="1412776"/>
            <a:ext cx="8639175" cy="4392613"/>
          </a:xfrm>
        </p:spPr>
        <p:txBody>
          <a:bodyPr/>
          <a:lstStyle/>
          <a:p>
            <a:r>
              <a:rPr lang="en-GB" dirty="0" smtClean="0"/>
              <a:t>New measurement of ECB‘s primary and secondary objectives using LLMs</a:t>
            </a:r>
          </a:p>
          <a:p>
            <a:endParaRPr lang="en-GB" dirty="0"/>
          </a:p>
          <a:p>
            <a:r>
              <a:rPr lang="en-GB" dirty="0" smtClean="0"/>
              <a:t>Revealed objective have become more diverse</a:t>
            </a:r>
          </a:p>
          <a:p>
            <a:endParaRPr lang="en-GB" dirty="0" smtClean="0"/>
          </a:p>
          <a:p>
            <a:r>
              <a:rPr lang="en-GB" dirty="0" smtClean="0"/>
              <a:t>Public debt and ECB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Link between debt-to-GDP ratio and dovishness of national GC members (Two-way FE)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National presidents more likely to mention secondary objectives with higher debt-to-GDP ratio (Year FE)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dirty="0" smtClean="0"/>
              <a:t>Most robust for distributional concerns (Two-way FE)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425736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ZEW Master">
  <a:themeElements>
    <a:clrScheme name="Benutzerdefiniert 2">
      <a:dk1>
        <a:srgbClr val="000000"/>
      </a:dk1>
      <a:lt1>
        <a:sysClr val="window" lastClr="FFFFFF"/>
      </a:lt1>
      <a:dk2>
        <a:srgbClr val="000000"/>
      </a:dk2>
      <a:lt2>
        <a:srgbClr val="505050"/>
      </a:lt2>
      <a:accent1>
        <a:srgbClr val="B4BE28"/>
      </a:accent1>
      <a:accent2>
        <a:srgbClr val="527DA4"/>
      </a:accent2>
      <a:accent3>
        <a:srgbClr val="9C2424"/>
      </a:accent3>
      <a:accent4>
        <a:srgbClr val="C7A92F"/>
      </a:accent4>
      <a:accent5>
        <a:srgbClr val="958C47"/>
      </a:accent5>
      <a:accent6>
        <a:srgbClr val="F79646"/>
      </a:accent6>
      <a:hlink>
        <a:srgbClr val="527DA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753</Words>
  <Application>Microsoft Office PowerPoint</Application>
  <PresentationFormat>A4-Papier (210x297 mm)</PresentationFormat>
  <Paragraphs>107</Paragraphs>
  <Slides>14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2" baseType="lpstr">
      <vt:lpstr>SimSun</vt:lpstr>
      <vt:lpstr>Arial</vt:lpstr>
      <vt:lpstr>Calibri</vt:lpstr>
      <vt:lpstr>Cambria Math</vt:lpstr>
      <vt:lpstr>Symbol</vt:lpstr>
      <vt:lpstr>Times New Roman</vt:lpstr>
      <vt:lpstr>Wingdings</vt:lpstr>
      <vt:lpstr>ZEW Master</vt:lpstr>
      <vt:lpstr> ECB Council Members’ Objectives and Public Debt at Home  – Evidence from an AI-Based Textual Analysis </vt:lpstr>
      <vt:lpstr>Motivation - THE ECB’s Objective Function</vt:lpstr>
      <vt:lpstr>This Paper</vt:lpstr>
      <vt:lpstr>ECB objectives</vt:lpstr>
      <vt:lpstr>Data</vt:lpstr>
      <vt:lpstr>Innovation: LLM</vt:lpstr>
      <vt:lpstr>Prompt</vt:lpstr>
      <vt:lpstr>Econometric Model</vt:lpstr>
      <vt:lpstr>Objectives over Time: Coverage LLM</vt:lpstr>
      <vt:lpstr>Coverage of Selected Objectives by Country LLM</vt:lpstr>
      <vt:lpstr>Coverage of Selected Objectives By Speaker LLM (Since 2015)</vt:lpstr>
      <vt:lpstr>Summary Preliminary Regression result – Public debt and Objectives </vt:lpstr>
      <vt:lpstr>Project Outlook</vt:lpstr>
      <vt:lpstr>conclusion</vt:lpstr>
    </vt:vector>
  </TitlesOfParts>
  <Manager>Dominik Rehse</Manager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Zentrum für Europäische  Wirtschaftsforschung GmbH (ZEW) Mannheim | Centre for European Economic Research</dc:title>
  <dc:creator>Dominik Rehse</dc:creator>
  <cp:lastModifiedBy>Friedrich Heinemann</cp:lastModifiedBy>
  <cp:revision>866</cp:revision>
  <cp:lastPrinted>2025-03-31T15:35:15Z</cp:lastPrinted>
  <dcterms:created xsi:type="dcterms:W3CDTF">2014-05-15T09:20:27Z</dcterms:created>
  <dcterms:modified xsi:type="dcterms:W3CDTF">2025-07-04T16:12:17Z</dcterms:modified>
</cp:coreProperties>
</file>